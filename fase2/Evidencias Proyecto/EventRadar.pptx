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y="8229600" cx="14630400"/>
  <p:notesSz cx="8229600" cy="14630400"/>
  <p:embeddedFontLst>
    <p:embeddedFont>
      <p:font typeface="Nunito SemiBold"/>
      <p:regular r:id="rId19"/>
      <p:bold r:id="rId20"/>
      <p:italic r:id="rId21"/>
      <p:boldItalic r:id="rId22"/>
    </p:embeddedFont>
    <p:embeddedFont>
      <p:font typeface="PT Sans"/>
      <p:regular r:id="rId23"/>
      <p:bold r:id="rId24"/>
      <p:italic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7" roundtripDataSignature="AMtx7mjeOubTXtL9q5+qJH1Ml/KG4e/Qz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NunitoSemiBold-bold.fntdata"/><Relationship Id="rId22" Type="http://schemas.openxmlformats.org/officeDocument/2006/relationships/font" Target="fonts/NunitoSemiBold-boldItalic.fntdata"/><Relationship Id="rId21" Type="http://schemas.openxmlformats.org/officeDocument/2006/relationships/font" Target="fonts/NunitoSemiBold-italic.fntdata"/><Relationship Id="rId24" Type="http://schemas.openxmlformats.org/officeDocument/2006/relationships/font" Target="fonts/PTSans-bold.fntdata"/><Relationship Id="rId23" Type="http://schemas.openxmlformats.org/officeDocument/2006/relationships/font" Target="fonts/PTSans-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PTSans-boldItalic.fntdata"/><Relationship Id="rId25" Type="http://schemas.openxmlformats.org/officeDocument/2006/relationships/font" Target="fonts/PTSans-italic.fntdata"/><Relationship Id="rId27" Type="http://customschemas.google.com/relationships/presentationmetadata" Target="meta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font" Target="fonts/NunitoSemiBold-regular.fntdata"/><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t>‹#›</a:t>
            </a:fld>
            <a:endParaRPr b="0" i="0" sz="1200" u="none" cap="none" strike="noStrik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 name="Google Shape;6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 name="Google Shape;7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 name="Google Shape;8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4" name="Google Shape;13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7" name="Google Shape;15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2" name="Google Shape;17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3" name="Google Shape;18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0" name="Google Shape;190;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 name="Google Shape;20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4" name="Google Shape;20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0" name="Google Shape;22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 name="Google Shape;24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7" name="Google Shape;24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1" name="Google Shape;27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7" name="Google Shape;29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hyperlink" Target="https://gamma.app/?utm_source=made-with-gamma" TargetMode="External"/><Relationship Id="rId4"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 master">
  <p:cSld name="Slide 1 master">
    <p:spTree>
      <p:nvGrpSpPr>
        <p:cNvPr id="10" name="Shape 10"/>
        <p:cNvGrpSpPr/>
        <p:nvPr/>
      </p:nvGrpSpPr>
      <p:grpSpPr>
        <a:xfrm>
          <a:off x="0" y="0"/>
          <a:ext cx="0" cy="0"/>
          <a:chOff x="0" y="0"/>
          <a:chExt cx="0" cy="0"/>
        </a:xfrm>
      </p:grpSpPr>
      <p:pic>
        <p:nvPicPr>
          <p:cNvPr descr="preencoded.png" id="11" name="Google Shape;11;p16"/>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12" name="Google Shape;12;p16"/>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 name="Google Shape;13;p16">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2 master">
  <p:cSld name="Slide 2 master">
    <p:spTree>
      <p:nvGrpSpPr>
        <p:cNvPr id="14" name="Shape 14"/>
        <p:cNvGrpSpPr/>
        <p:nvPr/>
      </p:nvGrpSpPr>
      <p:grpSpPr>
        <a:xfrm>
          <a:off x="0" y="0"/>
          <a:ext cx="0" cy="0"/>
          <a:chOff x="0" y="0"/>
          <a:chExt cx="0" cy="0"/>
        </a:xfrm>
      </p:grpSpPr>
      <p:pic>
        <p:nvPicPr>
          <p:cNvPr descr="preencoded.png" id="15" name="Google Shape;15;p17"/>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16" name="Google Shape;16;p17"/>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 name="Google Shape;17;p17">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3 master">
  <p:cSld name="Slide 3 master">
    <p:spTree>
      <p:nvGrpSpPr>
        <p:cNvPr id="18" name="Shape 18"/>
        <p:cNvGrpSpPr/>
        <p:nvPr/>
      </p:nvGrpSpPr>
      <p:grpSpPr>
        <a:xfrm>
          <a:off x="0" y="0"/>
          <a:ext cx="0" cy="0"/>
          <a:chOff x="0" y="0"/>
          <a:chExt cx="0" cy="0"/>
        </a:xfrm>
      </p:grpSpPr>
      <p:pic>
        <p:nvPicPr>
          <p:cNvPr descr="preencoded.png" id="19" name="Google Shape;19;p18"/>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20" name="Google Shape;20;p18"/>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1" name="Google Shape;21;p18">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4 master">
  <p:cSld name="Slide 4 master">
    <p:spTree>
      <p:nvGrpSpPr>
        <p:cNvPr id="22" name="Shape 22"/>
        <p:cNvGrpSpPr/>
        <p:nvPr/>
      </p:nvGrpSpPr>
      <p:grpSpPr>
        <a:xfrm>
          <a:off x="0" y="0"/>
          <a:ext cx="0" cy="0"/>
          <a:chOff x="0" y="0"/>
          <a:chExt cx="0" cy="0"/>
        </a:xfrm>
      </p:grpSpPr>
      <p:pic>
        <p:nvPicPr>
          <p:cNvPr descr="preencoded.png" id="23" name="Google Shape;23;p19"/>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24" name="Google Shape;24;p19"/>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 name="Google Shape;25;p19">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5 master">
  <p:cSld name="Slide 5 master">
    <p:spTree>
      <p:nvGrpSpPr>
        <p:cNvPr id="26" name="Shape 26"/>
        <p:cNvGrpSpPr/>
        <p:nvPr/>
      </p:nvGrpSpPr>
      <p:grpSpPr>
        <a:xfrm>
          <a:off x="0" y="0"/>
          <a:ext cx="0" cy="0"/>
          <a:chOff x="0" y="0"/>
          <a:chExt cx="0" cy="0"/>
        </a:xfrm>
      </p:grpSpPr>
      <p:pic>
        <p:nvPicPr>
          <p:cNvPr descr="preencoded.png" id="27" name="Google Shape;27;p20"/>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28" name="Google Shape;28;p20"/>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9" name="Google Shape;29;p20">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6 master">
  <p:cSld name="Slide 6 master">
    <p:spTree>
      <p:nvGrpSpPr>
        <p:cNvPr id="30" name="Shape 30"/>
        <p:cNvGrpSpPr/>
        <p:nvPr/>
      </p:nvGrpSpPr>
      <p:grpSpPr>
        <a:xfrm>
          <a:off x="0" y="0"/>
          <a:ext cx="0" cy="0"/>
          <a:chOff x="0" y="0"/>
          <a:chExt cx="0" cy="0"/>
        </a:xfrm>
      </p:grpSpPr>
      <p:pic>
        <p:nvPicPr>
          <p:cNvPr descr="preencoded.png" id="31" name="Google Shape;31;p21"/>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32" name="Google Shape;32;p21"/>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3" name="Google Shape;33;p21">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7 master">
  <p:cSld name="Slide 7 master">
    <p:spTree>
      <p:nvGrpSpPr>
        <p:cNvPr id="34" name="Shape 34"/>
        <p:cNvGrpSpPr/>
        <p:nvPr/>
      </p:nvGrpSpPr>
      <p:grpSpPr>
        <a:xfrm>
          <a:off x="0" y="0"/>
          <a:ext cx="0" cy="0"/>
          <a:chOff x="0" y="0"/>
          <a:chExt cx="0" cy="0"/>
        </a:xfrm>
      </p:grpSpPr>
      <p:pic>
        <p:nvPicPr>
          <p:cNvPr descr="preencoded.png" id="35" name="Google Shape;35;p22"/>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36" name="Google Shape;36;p22"/>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 name="Google Shape;37;p22">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8 master">
  <p:cSld name="Slide 8 master">
    <p:spTree>
      <p:nvGrpSpPr>
        <p:cNvPr id="38" name="Shape 38"/>
        <p:cNvGrpSpPr/>
        <p:nvPr/>
      </p:nvGrpSpPr>
      <p:grpSpPr>
        <a:xfrm>
          <a:off x="0" y="0"/>
          <a:ext cx="0" cy="0"/>
          <a:chOff x="0" y="0"/>
          <a:chExt cx="0" cy="0"/>
        </a:xfrm>
      </p:grpSpPr>
      <p:pic>
        <p:nvPicPr>
          <p:cNvPr descr="preencoded.png" id="39" name="Google Shape;39;p23"/>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40" name="Google Shape;40;p23"/>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 name="Google Shape;41;p23">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9 master">
  <p:cSld name="Slide 9 master">
    <p:spTree>
      <p:nvGrpSpPr>
        <p:cNvPr id="42" name="Shape 42"/>
        <p:cNvGrpSpPr/>
        <p:nvPr/>
      </p:nvGrpSpPr>
      <p:grpSpPr>
        <a:xfrm>
          <a:off x="0" y="0"/>
          <a:ext cx="0" cy="0"/>
          <a:chOff x="0" y="0"/>
          <a:chExt cx="0" cy="0"/>
        </a:xfrm>
      </p:grpSpPr>
      <p:pic>
        <p:nvPicPr>
          <p:cNvPr descr="preencoded.png" id="43" name="Google Shape;43;p24"/>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44" name="Google Shape;44;p24"/>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5" name="Google Shape;45;p24">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0 master">
  <p:cSld name="Slide 10 master">
    <p:spTree>
      <p:nvGrpSpPr>
        <p:cNvPr id="46" name="Shape 46"/>
        <p:cNvGrpSpPr/>
        <p:nvPr/>
      </p:nvGrpSpPr>
      <p:grpSpPr>
        <a:xfrm>
          <a:off x="0" y="0"/>
          <a:ext cx="0" cy="0"/>
          <a:chOff x="0" y="0"/>
          <a:chExt cx="0" cy="0"/>
        </a:xfrm>
      </p:grpSpPr>
      <p:pic>
        <p:nvPicPr>
          <p:cNvPr descr="preencoded.png" id="47" name="Google Shape;47;p25"/>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48" name="Google Shape;48;p25"/>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9" name="Google Shape;49;p25">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1 master">
  <p:cSld name="Slide 11 master">
    <p:spTree>
      <p:nvGrpSpPr>
        <p:cNvPr id="50" name="Shape 50"/>
        <p:cNvGrpSpPr/>
        <p:nvPr/>
      </p:nvGrpSpPr>
      <p:grpSpPr>
        <a:xfrm>
          <a:off x="0" y="0"/>
          <a:ext cx="0" cy="0"/>
          <a:chOff x="0" y="0"/>
          <a:chExt cx="0" cy="0"/>
        </a:xfrm>
      </p:grpSpPr>
      <p:pic>
        <p:nvPicPr>
          <p:cNvPr descr="preencoded.png" id="51" name="Google Shape;51;p26"/>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52" name="Google Shape;52;p26"/>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3" name="Google Shape;53;p26">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2 master">
  <p:cSld name="Slide 12 master">
    <p:spTree>
      <p:nvGrpSpPr>
        <p:cNvPr id="54" name="Shape 54"/>
        <p:cNvGrpSpPr/>
        <p:nvPr/>
      </p:nvGrpSpPr>
      <p:grpSpPr>
        <a:xfrm>
          <a:off x="0" y="0"/>
          <a:ext cx="0" cy="0"/>
          <a:chOff x="0" y="0"/>
          <a:chExt cx="0" cy="0"/>
        </a:xfrm>
      </p:grpSpPr>
      <p:pic>
        <p:nvPicPr>
          <p:cNvPr descr="preencoded.png" id="55" name="Google Shape;55;p27"/>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56" name="Google Shape;56;p27"/>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7" name="Google Shape;57;p27">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3 master">
  <p:cSld name="Slide 13 master">
    <p:spTree>
      <p:nvGrpSpPr>
        <p:cNvPr id="58" name="Shape 58"/>
        <p:cNvGrpSpPr/>
        <p:nvPr/>
      </p:nvGrpSpPr>
      <p:grpSpPr>
        <a:xfrm>
          <a:off x="0" y="0"/>
          <a:ext cx="0" cy="0"/>
          <a:chOff x="0" y="0"/>
          <a:chExt cx="0" cy="0"/>
        </a:xfrm>
      </p:grpSpPr>
      <p:pic>
        <p:nvPicPr>
          <p:cNvPr descr="preencoded.png" id="59" name="Google Shape;59;p28"/>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60" name="Google Shape;60;p28"/>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1" name="Google Shape;61;p28">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4 master">
  <p:cSld name="Slide 14 master">
    <p:spTree>
      <p:nvGrpSpPr>
        <p:cNvPr id="62" name="Shape 62"/>
        <p:cNvGrpSpPr/>
        <p:nvPr/>
      </p:nvGrpSpPr>
      <p:grpSpPr>
        <a:xfrm>
          <a:off x="0" y="0"/>
          <a:ext cx="0" cy="0"/>
          <a:chOff x="0" y="0"/>
          <a:chExt cx="0" cy="0"/>
        </a:xfrm>
      </p:grpSpPr>
      <p:pic>
        <p:nvPicPr>
          <p:cNvPr descr="preencoded.png" id="63" name="Google Shape;63;p29"/>
          <p:cNvPicPr preferRelativeResize="0"/>
          <p:nvPr/>
        </p:nvPicPr>
        <p:blipFill rotWithShape="1">
          <a:blip r:embed="rId2">
            <a:alphaModFix/>
          </a:blip>
          <a:srcRect b="0" l="0" r="0" t="0"/>
          <a:stretch/>
        </p:blipFill>
        <p:spPr>
          <a:xfrm>
            <a:off x="0" y="0"/>
            <a:ext cx="14630400" cy="8229600"/>
          </a:xfrm>
          <a:prstGeom prst="rect">
            <a:avLst/>
          </a:prstGeom>
          <a:noFill/>
          <a:ln>
            <a:noFill/>
          </a:ln>
        </p:spPr>
      </p:pic>
      <p:sp>
        <p:nvSpPr>
          <p:cNvPr id="64" name="Google Shape;64;p29"/>
          <p:cNvSpPr/>
          <p:nvPr/>
        </p:nvSpPr>
        <p:spPr>
          <a:xfrm>
            <a:off x="0" y="0"/>
            <a:ext cx="14630400" cy="8229600"/>
          </a:xfrm>
          <a:prstGeom prst="rect">
            <a:avLst/>
          </a:prstGeom>
          <a:solidFill>
            <a:srgbClr val="00002E">
              <a:alpha val="7490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5" name="Google Shape;65;p29">
            <a:hlinkClick r:id="rId3"/>
          </p:cNvPr>
          <p:cNvPicPr preferRelativeResize="0"/>
          <p:nvPr/>
        </p:nvPicPr>
        <p:blipFill rotWithShape="1">
          <a:blip r:embed="rId4">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6" name="Shape 6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34.png"/><Relationship Id="rId4" Type="http://schemas.openxmlformats.org/officeDocument/2006/relationships/image" Target="../media/image33.png"/><Relationship Id="rId5"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pic>
        <p:nvPicPr>
          <p:cNvPr descr="preencoded.png" id="72" name="Google Shape;72;p1"/>
          <p:cNvPicPr preferRelativeResize="0"/>
          <p:nvPr/>
        </p:nvPicPr>
        <p:blipFill rotWithShape="1">
          <a:blip r:embed="rId3">
            <a:alphaModFix/>
          </a:blip>
          <a:srcRect b="0" l="0" r="0" t="0"/>
          <a:stretch/>
        </p:blipFill>
        <p:spPr>
          <a:xfrm>
            <a:off x="9144000" y="0"/>
            <a:ext cx="5486400" cy="8229600"/>
          </a:xfrm>
          <a:prstGeom prst="rect">
            <a:avLst/>
          </a:prstGeom>
          <a:noFill/>
          <a:ln>
            <a:noFill/>
          </a:ln>
        </p:spPr>
      </p:pic>
      <p:sp>
        <p:nvSpPr>
          <p:cNvPr id="73" name="Google Shape;73;p1"/>
          <p:cNvSpPr/>
          <p:nvPr/>
        </p:nvSpPr>
        <p:spPr>
          <a:xfrm>
            <a:off x="837724" y="1186696"/>
            <a:ext cx="5632490" cy="704017"/>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4400"/>
              <a:buFont typeface="Nunito SemiBold"/>
              <a:buNone/>
            </a:pPr>
            <a:r>
              <a:rPr b="1" i="0" lang="en-US" sz="4400" u="none" cap="none" strike="noStrike">
                <a:solidFill>
                  <a:srgbClr val="FFFFFF"/>
                </a:solidFill>
                <a:latin typeface="Nunito SemiBold"/>
                <a:ea typeface="Nunito SemiBold"/>
                <a:cs typeface="Nunito SemiBold"/>
                <a:sym typeface="Nunito SemiBold"/>
              </a:rPr>
              <a:t>            EventRadar</a:t>
            </a:r>
            <a:endParaRPr b="0" i="0" sz="4400" u="none" cap="none" strike="noStrike"/>
          </a:p>
        </p:txBody>
      </p:sp>
      <p:sp>
        <p:nvSpPr>
          <p:cNvPr id="74" name="Google Shape;74;p1"/>
          <p:cNvSpPr/>
          <p:nvPr/>
        </p:nvSpPr>
        <p:spPr>
          <a:xfrm>
            <a:off x="837724" y="2249686"/>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SzPts val="1850"/>
              <a:buFont typeface="Arial"/>
              <a:buNone/>
            </a:pPr>
            <a:r>
              <a:t/>
            </a:r>
            <a:endParaRPr b="0" i="0" sz="1850" u="none" cap="none" strike="noStrike"/>
          </a:p>
        </p:txBody>
      </p:sp>
      <p:sp>
        <p:nvSpPr>
          <p:cNvPr id="75" name="Google Shape;75;p1"/>
          <p:cNvSpPr/>
          <p:nvPr/>
        </p:nvSpPr>
        <p:spPr>
          <a:xfrm>
            <a:off x="837724" y="2901910"/>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SzPts val="1850"/>
              <a:buFont typeface="Arial"/>
              <a:buNone/>
            </a:pPr>
            <a:r>
              <a:t/>
            </a:r>
            <a:endParaRPr b="0" i="0" sz="1850" u="none" cap="none" strike="noStrike"/>
          </a:p>
        </p:txBody>
      </p:sp>
      <p:sp>
        <p:nvSpPr>
          <p:cNvPr id="76" name="Google Shape;76;p1"/>
          <p:cNvSpPr/>
          <p:nvPr/>
        </p:nvSpPr>
        <p:spPr>
          <a:xfrm>
            <a:off x="837724" y="3554135"/>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SzPts val="1850"/>
              <a:buFont typeface="Arial"/>
              <a:buNone/>
            </a:pPr>
            <a:r>
              <a:t/>
            </a:r>
            <a:endParaRPr b="0" i="0" sz="1850" u="none" cap="none" strike="noStrike"/>
          </a:p>
        </p:txBody>
      </p:sp>
      <p:sp>
        <p:nvSpPr>
          <p:cNvPr id="77" name="Google Shape;77;p1"/>
          <p:cNvSpPr/>
          <p:nvPr/>
        </p:nvSpPr>
        <p:spPr>
          <a:xfrm>
            <a:off x="837724" y="4206359"/>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SzPts val="1850"/>
              <a:buFont typeface="Arial"/>
              <a:buNone/>
            </a:pPr>
            <a:r>
              <a:t/>
            </a:r>
            <a:endParaRPr b="0" i="0" sz="1850" u="none" cap="none" strike="noStrike"/>
          </a:p>
        </p:txBody>
      </p:sp>
      <p:sp>
        <p:nvSpPr>
          <p:cNvPr id="78" name="Google Shape;78;p1"/>
          <p:cNvSpPr/>
          <p:nvPr/>
        </p:nvSpPr>
        <p:spPr>
          <a:xfrm>
            <a:off x="837724" y="4858583"/>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SzPts val="1850"/>
              <a:buFont typeface="Arial"/>
              <a:buNone/>
            </a:pPr>
            <a:r>
              <a:t/>
            </a:r>
            <a:endParaRPr b="0" i="0" sz="1850" u="none" cap="none" strike="noStrike"/>
          </a:p>
        </p:txBody>
      </p:sp>
      <p:sp>
        <p:nvSpPr>
          <p:cNvPr id="79" name="Google Shape;79;p1"/>
          <p:cNvSpPr/>
          <p:nvPr/>
        </p:nvSpPr>
        <p:spPr>
          <a:xfrm>
            <a:off x="837724" y="5510808"/>
            <a:ext cx="7468553" cy="1532096"/>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Miembros:                                                              Docente:- Iván Diaz                                                               - Mauricio Figueroa- Alejandro Troncoso- Diego Valenzuela</a:t>
            </a:r>
            <a:endParaRPr b="0" i="0" sz="1850" u="none" cap="none" strike="noStrike"/>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2"/>
          <p:cNvSpPr/>
          <p:nvPr/>
        </p:nvSpPr>
        <p:spPr>
          <a:xfrm>
            <a:off x="719852" y="729972"/>
            <a:ext cx="4839295" cy="604957"/>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3800"/>
              <a:buFont typeface="Nunito SemiBold"/>
              <a:buNone/>
            </a:pPr>
            <a:r>
              <a:rPr b="1" i="0" lang="en-US" sz="3800" u="none" cap="none" strike="noStrike">
                <a:solidFill>
                  <a:srgbClr val="FFFFFF"/>
                </a:solidFill>
                <a:latin typeface="Nunito SemiBold"/>
                <a:ea typeface="Nunito SemiBold"/>
                <a:cs typeface="Nunito SemiBold"/>
                <a:sym typeface="Nunito SemiBold"/>
              </a:rPr>
              <a:t>Tabla de Contenidos</a:t>
            </a:r>
            <a:endParaRPr b="0" i="0" sz="3800" u="none" cap="none" strike="noStrike"/>
          </a:p>
        </p:txBody>
      </p:sp>
      <p:sp>
        <p:nvSpPr>
          <p:cNvPr id="86" name="Google Shape;86;p2"/>
          <p:cNvSpPr/>
          <p:nvPr/>
        </p:nvSpPr>
        <p:spPr>
          <a:xfrm>
            <a:off x="719852" y="1746171"/>
            <a:ext cx="13190696"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Explore los puntos clave de nuestra presentación para comprender la visión y el impacto de EventRadar.</a:t>
            </a:r>
            <a:endParaRPr b="0" i="0" sz="1600" u="none" cap="none" strike="noStrike"/>
          </a:p>
        </p:txBody>
      </p:sp>
      <p:sp>
        <p:nvSpPr>
          <p:cNvPr id="87" name="Google Shape;87;p2"/>
          <p:cNvSpPr/>
          <p:nvPr/>
        </p:nvSpPr>
        <p:spPr>
          <a:xfrm>
            <a:off x="719852" y="2306479"/>
            <a:ext cx="462677" cy="462677"/>
          </a:xfrm>
          <a:prstGeom prst="roundRect">
            <a:avLst>
              <a:gd fmla="val 66679" name="adj"/>
            </a:avLst>
          </a:prstGeom>
          <a:solidFill>
            <a:srgbClr val="00002E"/>
          </a:solidFill>
          <a:ln cap="flat" cmpd="sng" w="22850">
            <a:solidFill>
              <a:srgbClr val="F2B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806053" y="2356366"/>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1</a:t>
            </a:r>
            <a:endParaRPr b="0" i="0" sz="2250" u="none" cap="none" strike="noStrike"/>
          </a:p>
        </p:txBody>
      </p:sp>
      <p:sp>
        <p:nvSpPr>
          <p:cNvPr id="89" name="Google Shape;89;p2"/>
          <p:cNvSpPr/>
          <p:nvPr/>
        </p:nvSpPr>
        <p:spPr>
          <a:xfrm>
            <a:off x="1388150" y="2377083"/>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Contexto</a:t>
            </a:r>
            <a:endParaRPr b="0" i="0" sz="1900" u="none" cap="none" strike="noStrike"/>
          </a:p>
        </p:txBody>
      </p:sp>
      <p:sp>
        <p:nvSpPr>
          <p:cNvPr id="90" name="Google Shape;90;p2"/>
          <p:cNvSpPr/>
          <p:nvPr/>
        </p:nvSpPr>
        <p:spPr>
          <a:xfrm>
            <a:off x="1388150" y="2802850"/>
            <a:ext cx="3557230"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Panorama actual de los eventos locales.</a:t>
            </a:r>
            <a:endParaRPr b="0" i="0" sz="1600" u="none" cap="none" strike="noStrike"/>
          </a:p>
        </p:txBody>
      </p:sp>
      <p:sp>
        <p:nvSpPr>
          <p:cNvPr id="91" name="Google Shape;91;p2"/>
          <p:cNvSpPr/>
          <p:nvPr/>
        </p:nvSpPr>
        <p:spPr>
          <a:xfrm>
            <a:off x="5202436" y="2306479"/>
            <a:ext cx="462677" cy="462677"/>
          </a:xfrm>
          <a:prstGeom prst="roundRect">
            <a:avLst>
              <a:gd fmla="val 66679" name="adj"/>
            </a:avLst>
          </a:prstGeom>
          <a:solidFill>
            <a:srgbClr val="00002E"/>
          </a:solidFill>
          <a:ln cap="flat" cmpd="sng" w="22850">
            <a:solidFill>
              <a:srgbClr val="D742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288637" y="2356366"/>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2</a:t>
            </a:r>
            <a:endParaRPr b="0" i="0" sz="2250" u="none" cap="none" strike="noStrike"/>
          </a:p>
        </p:txBody>
      </p:sp>
      <p:sp>
        <p:nvSpPr>
          <p:cNvPr id="93" name="Google Shape;93;p2"/>
          <p:cNvSpPr/>
          <p:nvPr/>
        </p:nvSpPr>
        <p:spPr>
          <a:xfrm>
            <a:off x="5870734" y="2377083"/>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Problemática</a:t>
            </a:r>
            <a:endParaRPr b="0" i="0" sz="1900" u="none" cap="none" strike="noStrike"/>
          </a:p>
        </p:txBody>
      </p:sp>
      <p:sp>
        <p:nvSpPr>
          <p:cNvPr id="94" name="Google Shape;94;p2"/>
          <p:cNvSpPr/>
          <p:nvPr/>
        </p:nvSpPr>
        <p:spPr>
          <a:xfrm>
            <a:off x="5870734" y="2802850"/>
            <a:ext cx="3557230" cy="657939"/>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Desafíos para organizadores y asistentes.</a:t>
            </a:r>
            <a:endParaRPr b="0" i="0" sz="1600" u="none" cap="none" strike="noStrike"/>
          </a:p>
        </p:txBody>
      </p:sp>
      <p:sp>
        <p:nvSpPr>
          <p:cNvPr id="95" name="Google Shape;95;p2"/>
          <p:cNvSpPr/>
          <p:nvPr/>
        </p:nvSpPr>
        <p:spPr>
          <a:xfrm>
            <a:off x="9685020" y="2306479"/>
            <a:ext cx="462677" cy="462677"/>
          </a:xfrm>
          <a:prstGeom prst="roundRect">
            <a:avLst>
              <a:gd fmla="val 66679" name="adj"/>
            </a:avLst>
          </a:prstGeom>
          <a:solidFill>
            <a:srgbClr val="00002E"/>
          </a:solidFill>
          <a:ln cap="flat" cmpd="sng" w="22850">
            <a:solidFill>
              <a:srgbClr val="DD78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
          <p:cNvSpPr/>
          <p:nvPr/>
        </p:nvSpPr>
        <p:spPr>
          <a:xfrm>
            <a:off x="9771221" y="2356366"/>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3</a:t>
            </a:r>
            <a:endParaRPr b="0" i="0" sz="2250" u="none" cap="none" strike="noStrike"/>
          </a:p>
        </p:txBody>
      </p:sp>
      <p:sp>
        <p:nvSpPr>
          <p:cNvPr id="97" name="Google Shape;97;p2"/>
          <p:cNvSpPr/>
          <p:nvPr/>
        </p:nvSpPr>
        <p:spPr>
          <a:xfrm>
            <a:off x="10353318" y="2377083"/>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Solución</a:t>
            </a:r>
            <a:endParaRPr b="0" i="0" sz="1900" u="none" cap="none" strike="noStrike"/>
          </a:p>
        </p:txBody>
      </p:sp>
      <p:sp>
        <p:nvSpPr>
          <p:cNvPr id="98" name="Google Shape;98;p2"/>
          <p:cNvSpPr/>
          <p:nvPr/>
        </p:nvSpPr>
        <p:spPr>
          <a:xfrm>
            <a:off x="10353318" y="2802850"/>
            <a:ext cx="3557230" cy="657939"/>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Cómo EventRadar resuelve estos problemas.</a:t>
            </a:r>
            <a:endParaRPr b="0" i="0" sz="1600" u="none" cap="none" strike="noStrike"/>
          </a:p>
        </p:txBody>
      </p:sp>
      <p:sp>
        <p:nvSpPr>
          <p:cNvPr id="99" name="Google Shape;99;p2"/>
          <p:cNvSpPr/>
          <p:nvPr/>
        </p:nvSpPr>
        <p:spPr>
          <a:xfrm>
            <a:off x="719852" y="3872032"/>
            <a:ext cx="462677" cy="462677"/>
          </a:xfrm>
          <a:prstGeom prst="roundRect">
            <a:avLst>
              <a:gd fmla="val 66679" name="adj"/>
            </a:avLst>
          </a:prstGeom>
          <a:solidFill>
            <a:srgbClr val="00002E"/>
          </a:solidFill>
          <a:ln cap="flat" cmpd="sng" w="22850">
            <a:solidFill>
              <a:srgbClr val="48A8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
          <p:cNvSpPr/>
          <p:nvPr/>
        </p:nvSpPr>
        <p:spPr>
          <a:xfrm>
            <a:off x="806053" y="3921919"/>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4</a:t>
            </a:r>
            <a:endParaRPr b="0" i="0" sz="2250" u="none" cap="none" strike="noStrike"/>
          </a:p>
        </p:txBody>
      </p:sp>
      <p:sp>
        <p:nvSpPr>
          <p:cNvPr id="101" name="Google Shape;101;p2"/>
          <p:cNvSpPr/>
          <p:nvPr/>
        </p:nvSpPr>
        <p:spPr>
          <a:xfrm>
            <a:off x="1388150" y="3942636"/>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Arquitectura</a:t>
            </a:r>
            <a:endParaRPr b="0" i="0" sz="1900" u="none" cap="none" strike="noStrike"/>
          </a:p>
        </p:txBody>
      </p:sp>
      <p:sp>
        <p:nvSpPr>
          <p:cNvPr id="102" name="Google Shape;102;p2"/>
          <p:cNvSpPr/>
          <p:nvPr/>
        </p:nvSpPr>
        <p:spPr>
          <a:xfrm>
            <a:off x="1388150" y="4368403"/>
            <a:ext cx="3557230"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Tecnología y estructura subyacente.</a:t>
            </a:r>
            <a:endParaRPr b="0" i="0" sz="1600" u="none" cap="none" strike="noStrike"/>
          </a:p>
        </p:txBody>
      </p:sp>
      <p:sp>
        <p:nvSpPr>
          <p:cNvPr id="103" name="Google Shape;103;p2"/>
          <p:cNvSpPr/>
          <p:nvPr/>
        </p:nvSpPr>
        <p:spPr>
          <a:xfrm>
            <a:off x="5202436" y="3872032"/>
            <a:ext cx="462677" cy="462677"/>
          </a:xfrm>
          <a:prstGeom prst="roundRect">
            <a:avLst>
              <a:gd fmla="val 66679" name="adj"/>
            </a:avLst>
          </a:prstGeom>
          <a:solidFill>
            <a:srgbClr val="00002E"/>
          </a:solidFill>
          <a:ln cap="flat" cmpd="sng" w="22850">
            <a:solidFill>
              <a:srgbClr val="59AB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2"/>
          <p:cNvSpPr/>
          <p:nvPr/>
        </p:nvSpPr>
        <p:spPr>
          <a:xfrm>
            <a:off x="5288637" y="3921919"/>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5</a:t>
            </a:r>
            <a:endParaRPr b="0" i="0" sz="2250" u="none" cap="none" strike="noStrike"/>
          </a:p>
        </p:txBody>
      </p:sp>
      <p:sp>
        <p:nvSpPr>
          <p:cNvPr id="105" name="Google Shape;105;p2"/>
          <p:cNvSpPr/>
          <p:nvPr/>
        </p:nvSpPr>
        <p:spPr>
          <a:xfrm>
            <a:off x="5870734" y="3942636"/>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Metodología</a:t>
            </a:r>
            <a:endParaRPr b="0" i="0" sz="1900" u="none" cap="none" strike="noStrike"/>
          </a:p>
        </p:txBody>
      </p:sp>
      <p:sp>
        <p:nvSpPr>
          <p:cNvPr id="106" name="Google Shape;106;p2"/>
          <p:cNvSpPr/>
          <p:nvPr/>
        </p:nvSpPr>
        <p:spPr>
          <a:xfrm>
            <a:off x="5870734" y="4368403"/>
            <a:ext cx="3557230" cy="657939"/>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Enfoque de desarrollo e implementación.</a:t>
            </a:r>
            <a:endParaRPr b="0" i="0" sz="1600" u="none" cap="none" strike="noStrike"/>
          </a:p>
        </p:txBody>
      </p:sp>
      <p:sp>
        <p:nvSpPr>
          <p:cNvPr id="107" name="Google Shape;107;p2"/>
          <p:cNvSpPr/>
          <p:nvPr/>
        </p:nvSpPr>
        <p:spPr>
          <a:xfrm>
            <a:off x="9685020" y="3872032"/>
            <a:ext cx="462677" cy="462677"/>
          </a:xfrm>
          <a:prstGeom prst="roundRect">
            <a:avLst>
              <a:gd fmla="val 66679" name="adj"/>
            </a:avLst>
          </a:prstGeom>
          <a:solidFill>
            <a:srgbClr val="00002E"/>
          </a:solidFill>
          <a:ln cap="flat" cmpd="sng" w="22850">
            <a:solidFill>
              <a:srgbClr val="F2B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9771221" y="3921919"/>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6</a:t>
            </a:r>
            <a:endParaRPr b="0" i="0" sz="2250" u="none" cap="none" strike="noStrike"/>
          </a:p>
        </p:txBody>
      </p:sp>
      <p:sp>
        <p:nvSpPr>
          <p:cNvPr id="109" name="Google Shape;109;p2"/>
          <p:cNvSpPr/>
          <p:nvPr/>
        </p:nvSpPr>
        <p:spPr>
          <a:xfrm>
            <a:off x="10353318" y="3942636"/>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Equipo</a:t>
            </a:r>
            <a:endParaRPr b="0" i="0" sz="1900" u="none" cap="none" strike="noStrike"/>
          </a:p>
        </p:txBody>
      </p:sp>
      <p:sp>
        <p:nvSpPr>
          <p:cNvPr id="110" name="Google Shape;110;p2"/>
          <p:cNvSpPr/>
          <p:nvPr/>
        </p:nvSpPr>
        <p:spPr>
          <a:xfrm>
            <a:off x="10353318" y="4368403"/>
            <a:ext cx="3557230" cy="657939"/>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Presentación de los miembros del proyecto.</a:t>
            </a:r>
            <a:endParaRPr b="0" i="0" sz="1600" u="none" cap="none" strike="noStrike"/>
          </a:p>
        </p:txBody>
      </p:sp>
      <p:sp>
        <p:nvSpPr>
          <p:cNvPr id="111" name="Google Shape;111;p2"/>
          <p:cNvSpPr/>
          <p:nvPr/>
        </p:nvSpPr>
        <p:spPr>
          <a:xfrm>
            <a:off x="719852" y="5437584"/>
            <a:ext cx="462677" cy="462677"/>
          </a:xfrm>
          <a:prstGeom prst="roundRect">
            <a:avLst>
              <a:gd fmla="val 66679" name="adj"/>
            </a:avLst>
          </a:prstGeom>
          <a:solidFill>
            <a:srgbClr val="00002E"/>
          </a:solidFill>
          <a:ln cap="flat" cmpd="sng" w="22850">
            <a:solidFill>
              <a:srgbClr val="D742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806053" y="5487472"/>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7</a:t>
            </a:r>
            <a:endParaRPr b="0" i="0" sz="2250" u="none" cap="none" strike="noStrike"/>
          </a:p>
        </p:txBody>
      </p:sp>
      <p:sp>
        <p:nvSpPr>
          <p:cNvPr id="113" name="Google Shape;113;p2"/>
          <p:cNvSpPr/>
          <p:nvPr/>
        </p:nvSpPr>
        <p:spPr>
          <a:xfrm>
            <a:off x="1388150" y="5508188"/>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Historias de Usuario</a:t>
            </a:r>
            <a:endParaRPr b="0" i="0" sz="1900" u="none" cap="none" strike="noStrike"/>
          </a:p>
        </p:txBody>
      </p:sp>
      <p:sp>
        <p:nvSpPr>
          <p:cNvPr id="114" name="Google Shape;114;p2"/>
          <p:cNvSpPr/>
          <p:nvPr/>
        </p:nvSpPr>
        <p:spPr>
          <a:xfrm>
            <a:off x="1388150" y="5933956"/>
            <a:ext cx="3557230"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Casos de uso y necesidades clave.</a:t>
            </a:r>
            <a:endParaRPr b="0" i="0" sz="1600" u="none" cap="none" strike="noStrike"/>
          </a:p>
        </p:txBody>
      </p:sp>
      <p:sp>
        <p:nvSpPr>
          <p:cNvPr id="115" name="Google Shape;115;p2"/>
          <p:cNvSpPr/>
          <p:nvPr/>
        </p:nvSpPr>
        <p:spPr>
          <a:xfrm>
            <a:off x="5202436" y="5437584"/>
            <a:ext cx="462677" cy="462677"/>
          </a:xfrm>
          <a:prstGeom prst="roundRect">
            <a:avLst>
              <a:gd fmla="val 66679" name="adj"/>
            </a:avLst>
          </a:prstGeom>
          <a:solidFill>
            <a:srgbClr val="00002E"/>
          </a:solidFill>
          <a:ln cap="flat" cmpd="sng" w="22850">
            <a:solidFill>
              <a:srgbClr val="DD78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5288637" y="5487472"/>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8</a:t>
            </a:r>
            <a:endParaRPr b="0" i="0" sz="2250" u="none" cap="none" strike="noStrike"/>
          </a:p>
        </p:txBody>
      </p:sp>
      <p:sp>
        <p:nvSpPr>
          <p:cNvPr id="117" name="Google Shape;117;p2"/>
          <p:cNvSpPr/>
          <p:nvPr/>
        </p:nvSpPr>
        <p:spPr>
          <a:xfrm>
            <a:off x="5870734" y="5508188"/>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Sprints</a:t>
            </a:r>
            <a:endParaRPr b="0" i="0" sz="1900" u="none" cap="none" strike="noStrike"/>
          </a:p>
        </p:txBody>
      </p:sp>
      <p:sp>
        <p:nvSpPr>
          <p:cNvPr id="118" name="Google Shape;118;p2"/>
          <p:cNvSpPr/>
          <p:nvPr/>
        </p:nvSpPr>
        <p:spPr>
          <a:xfrm>
            <a:off x="5870734" y="5933956"/>
            <a:ext cx="3557230"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Planificación de iteraciones y entregas.</a:t>
            </a:r>
            <a:endParaRPr b="0" i="0" sz="1600" u="none" cap="none" strike="noStrike"/>
          </a:p>
        </p:txBody>
      </p:sp>
      <p:sp>
        <p:nvSpPr>
          <p:cNvPr id="119" name="Google Shape;119;p2"/>
          <p:cNvSpPr/>
          <p:nvPr/>
        </p:nvSpPr>
        <p:spPr>
          <a:xfrm>
            <a:off x="9685020" y="5437584"/>
            <a:ext cx="462677" cy="462677"/>
          </a:xfrm>
          <a:prstGeom prst="roundRect">
            <a:avLst>
              <a:gd fmla="val 66679" name="adj"/>
            </a:avLst>
          </a:prstGeom>
          <a:solidFill>
            <a:srgbClr val="00002E"/>
          </a:solidFill>
          <a:ln cap="flat" cmpd="sng" w="22850">
            <a:solidFill>
              <a:srgbClr val="48A8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2"/>
          <p:cNvSpPr/>
          <p:nvPr/>
        </p:nvSpPr>
        <p:spPr>
          <a:xfrm>
            <a:off x="9771221" y="5487472"/>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9</a:t>
            </a:r>
            <a:endParaRPr b="0" i="0" sz="2250" u="none" cap="none" strike="noStrike"/>
          </a:p>
        </p:txBody>
      </p:sp>
      <p:sp>
        <p:nvSpPr>
          <p:cNvPr id="121" name="Google Shape;121;p2"/>
          <p:cNvSpPr/>
          <p:nvPr/>
        </p:nvSpPr>
        <p:spPr>
          <a:xfrm>
            <a:off x="10353318" y="5508188"/>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Evidencias</a:t>
            </a:r>
            <a:endParaRPr b="0" i="0" sz="1900" u="none" cap="none" strike="noStrike"/>
          </a:p>
        </p:txBody>
      </p:sp>
      <p:sp>
        <p:nvSpPr>
          <p:cNvPr id="122" name="Google Shape;122;p2"/>
          <p:cNvSpPr/>
          <p:nvPr/>
        </p:nvSpPr>
        <p:spPr>
          <a:xfrm>
            <a:off x="10353318" y="5933956"/>
            <a:ext cx="3557230"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Demostración de prototipos y avances.</a:t>
            </a:r>
            <a:endParaRPr b="0" i="0" sz="1600" u="none" cap="none" strike="noStrike"/>
          </a:p>
        </p:txBody>
      </p:sp>
      <p:sp>
        <p:nvSpPr>
          <p:cNvPr id="123" name="Google Shape;123;p2"/>
          <p:cNvSpPr/>
          <p:nvPr/>
        </p:nvSpPr>
        <p:spPr>
          <a:xfrm>
            <a:off x="719852" y="6674168"/>
            <a:ext cx="462677" cy="462677"/>
          </a:xfrm>
          <a:prstGeom prst="roundRect">
            <a:avLst>
              <a:gd fmla="val 66679" name="adj"/>
            </a:avLst>
          </a:prstGeom>
          <a:solidFill>
            <a:srgbClr val="00002E"/>
          </a:solidFill>
          <a:ln cap="flat" cmpd="sng" w="22850">
            <a:solidFill>
              <a:srgbClr val="59AB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
          <p:cNvSpPr/>
          <p:nvPr/>
        </p:nvSpPr>
        <p:spPr>
          <a:xfrm>
            <a:off x="806053" y="6724055"/>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10</a:t>
            </a:r>
            <a:endParaRPr b="0" i="0" sz="2250" u="none" cap="none" strike="noStrike"/>
          </a:p>
        </p:txBody>
      </p:sp>
      <p:sp>
        <p:nvSpPr>
          <p:cNvPr id="125" name="Google Shape;125;p2"/>
          <p:cNvSpPr/>
          <p:nvPr/>
        </p:nvSpPr>
        <p:spPr>
          <a:xfrm>
            <a:off x="1388150" y="6744772"/>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Carta Gantt</a:t>
            </a:r>
            <a:endParaRPr b="0" i="0" sz="1900" u="none" cap="none" strike="noStrike"/>
          </a:p>
        </p:txBody>
      </p:sp>
      <p:sp>
        <p:nvSpPr>
          <p:cNvPr id="126" name="Google Shape;126;p2"/>
          <p:cNvSpPr/>
          <p:nvPr/>
        </p:nvSpPr>
        <p:spPr>
          <a:xfrm>
            <a:off x="1388150" y="7170539"/>
            <a:ext cx="5798463"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Cronograma detallado del proyecto.</a:t>
            </a:r>
            <a:endParaRPr b="0" i="0" sz="1600" u="none" cap="none" strike="noStrike"/>
          </a:p>
        </p:txBody>
      </p:sp>
      <p:sp>
        <p:nvSpPr>
          <p:cNvPr id="127" name="Google Shape;127;p2"/>
          <p:cNvSpPr/>
          <p:nvPr/>
        </p:nvSpPr>
        <p:spPr>
          <a:xfrm>
            <a:off x="7443668" y="6674168"/>
            <a:ext cx="462677" cy="462677"/>
          </a:xfrm>
          <a:prstGeom prst="roundRect">
            <a:avLst>
              <a:gd fmla="val 66679" name="adj"/>
            </a:avLst>
          </a:prstGeom>
          <a:solidFill>
            <a:srgbClr val="00002E"/>
          </a:solidFill>
          <a:ln cap="flat" cmpd="sng" w="22850">
            <a:solidFill>
              <a:srgbClr val="F2B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7529870" y="6724055"/>
            <a:ext cx="290274" cy="362903"/>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2250"/>
              <a:buFont typeface="Nunito SemiBold"/>
              <a:buNone/>
            </a:pPr>
            <a:r>
              <a:rPr b="1" i="0" lang="en-US" sz="2250" u="none" cap="none" strike="noStrike">
                <a:solidFill>
                  <a:srgbClr val="FFFFFF"/>
                </a:solidFill>
                <a:latin typeface="Nunito SemiBold"/>
                <a:ea typeface="Nunito SemiBold"/>
                <a:cs typeface="Nunito SemiBold"/>
                <a:sym typeface="Nunito SemiBold"/>
              </a:rPr>
              <a:t>11</a:t>
            </a:r>
            <a:endParaRPr b="0" i="0" sz="2250" u="none" cap="none" strike="noStrike"/>
          </a:p>
        </p:txBody>
      </p:sp>
      <p:sp>
        <p:nvSpPr>
          <p:cNvPr id="129" name="Google Shape;129;p2"/>
          <p:cNvSpPr/>
          <p:nvPr/>
        </p:nvSpPr>
        <p:spPr>
          <a:xfrm>
            <a:off x="8111966" y="6744772"/>
            <a:ext cx="2419588" cy="302419"/>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Conclusión</a:t>
            </a:r>
            <a:endParaRPr b="0" i="0" sz="1900" u="none" cap="none" strike="noStrike"/>
          </a:p>
        </p:txBody>
      </p:sp>
      <p:sp>
        <p:nvSpPr>
          <p:cNvPr id="130" name="Google Shape;130;p2"/>
          <p:cNvSpPr/>
          <p:nvPr/>
        </p:nvSpPr>
        <p:spPr>
          <a:xfrm>
            <a:off x="8111966" y="7170539"/>
            <a:ext cx="5798582" cy="328970"/>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FFFFFF"/>
              </a:buClr>
              <a:buSzPts val="1600"/>
              <a:buFont typeface="PT Sans"/>
              <a:buNone/>
            </a:pPr>
            <a:r>
              <a:rPr b="0" i="0" lang="en-US" sz="1600" u="none" cap="none" strike="noStrike">
                <a:solidFill>
                  <a:srgbClr val="FFFFFF"/>
                </a:solidFill>
                <a:latin typeface="PT Sans"/>
                <a:ea typeface="PT Sans"/>
                <a:cs typeface="PT Sans"/>
                <a:sym typeface="PT Sans"/>
              </a:rPr>
              <a:t>Resumen final y compromiso.</a:t>
            </a:r>
            <a:endParaRPr b="0" i="0" sz="1600" u="none" cap="none" strike="noStrike"/>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descr="preencoded.png" id="136" name="Google Shape;136;p3"/>
          <p:cNvPicPr preferRelativeResize="0"/>
          <p:nvPr/>
        </p:nvPicPr>
        <p:blipFill rotWithShape="1">
          <a:blip r:embed="rId3">
            <a:alphaModFix/>
          </a:blip>
          <a:srcRect b="0" l="0" r="0" t="0"/>
          <a:stretch/>
        </p:blipFill>
        <p:spPr>
          <a:xfrm>
            <a:off x="1284923" y="892969"/>
            <a:ext cx="3912037" cy="5867995"/>
          </a:xfrm>
          <a:prstGeom prst="rect">
            <a:avLst/>
          </a:prstGeom>
          <a:noFill/>
          <a:ln>
            <a:noFill/>
          </a:ln>
        </p:spPr>
      </p:pic>
      <p:sp>
        <p:nvSpPr>
          <p:cNvPr id="137" name="Google Shape;137;p3"/>
          <p:cNvSpPr/>
          <p:nvPr/>
        </p:nvSpPr>
        <p:spPr>
          <a:xfrm>
            <a:off x="805696" y="7019925"/>
            <a:ext cx="4870609" cy="368379"/>
          </a:xfrm>
          <a:prstGeom prst="rect">
            <a:avLst/>
          </a:prstGeom>
          <a:noFill/>
          <a:ln>
            <a:noFill/>
          </a:ln>
        </p:spPr>
        <p:txBody>
          <a:bodyPr anchorCtr="0" anchor="t" bIns="0" lIns="0" spcFirstLastPara="1" rIns="0" wrap="square" tIns="0">
            <a:noAutofit/>
          </a:bodyPr>
          <a:lstStyle/>
          <a:p>
            <a:pPr indent="0" lvl="0" marL="0" marR="0" rtl="0" algn="l">
              <a:lnSpc>
                <a:spcPct val="161111"/>
              </a:lnSpc>
              <a:spcBef>
                <a:spcPts val="0"/>
              </a:spcBef>
              <a:spcAft>
                <a:spcPts val="0"/>
              </a:spcAft>
              <a:buSzPts val="1800"/>
              <a:buFont typeface="Arial"/>
              <a:buNone/>
            </a:pPr>
            <a:r>
              <a:t/>
            </a:r>
            <a:endParaRPr b="0" i="0" sz="1800" u="none" cap="none" strike="noStrike"/>
          </a:p>
        </p:txBody>
      </p:sp>
      <p:sp>
        <p:nvSpPr>
          <p:cNvPr id="138" name="Google Shape;138;p3"/>
          <p:cNvSpPr/>
          <p:nvPr/>
        </p:nvSpPr>
        <p:spPr>
          <a:xfrm>
            <a:off x="6245423" y="2751773"/>
            <a:ext cx="5416748" cy="677108"/>
          </a:xfrm>
          <a:prstGeom prst="rect">
            <a:avLst/>
          </a:prstGeom>
          <a:noFill/>
          <a:ln>
            <a:noFill/>
          </a:ln>
        </p:spPr>
        <p:txBody>
          <a:bodyPr anchorCtr="0" anchor="t" bIns="0" lIns="0" spcFirstLastPara="1" rIns="0" wrap="square" tIns="0">
            <a:noAutofit/>
          </a:bodyPr>
          <a:lstStyle/>
          <a:p>
            <a:pPr indent="0" lvl="0" marL="0" marR="0" rtl="0" algn="l">
              <a:lnSpc>
                <a:spcPct val="124705"/>
              </a:lnSpc>
              <a:spcBef>
                <a:spcPts val="0"/>
              </a:spcBef>
              <a:spcAft>
                <a:spcPts val="0"/>
              </a:spcAft>
              <a:buClr>
                <a:srgbClr val="FFFFFF"/>
              </a:buClr>
              <a:buSzPts val="4250"/>
              <a:buFont typeface="Nunito SemiBold"/>
              <a:buNone/>
            </a:pPr>
            <a:r>
              <a:rPr b="1" i="0" lang="en-US" sz="4250" u="none" cap="none" strike="noStrike">
                <a:solidFill>
                  <a:srgbClr val="FFFFFF"/>
                </a:solidFill>
                <a:latin typeface="Nunito SemiBold"/>
                <a:ea typeface="Nunito SemiBold"/>
                <a:cs typeface="Nunito SemiBold"/>
                <a:sym typeface="Nunito SemiBold"/>
              </a:rPr>
              <a:t>Contexto</a:t>
            </a:r>
            <a:endParaRPr b="0" i="0" sz="4250" u="none" cap="none" strike="noStrike"/>
          </a:p>
        </p:txBody>
      </p:sp>
      <p:sp>
        <p:nvSpPr>
          <p:cNvPr id="139" name="Google Shape;139;p3"/>
          <p:cNvSpPr/>
          <p:nvPr/>
        </p:nvSpPr>
        <p:spPr>
          <a:xfrm>
            <a:off x="6245423" y="3659029"/>
            <a:ext cx="7586782" cy="1841659"/>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2250"/>
              <a:buFont typeface="PT Sans"/>
              <a:buNone/>
            </a:pPr>
            <a:r>
              <a:rPr b="0" i="0" lang="en-US" sz="2250" u="none" cap="none" strike="noStrike">
                <a:solidFill>
                  <a:srgbClr val="FFFFFF"/>
                </a:solidFill>
                <a:latin typeface="PT Sans"/>
                <a:ea typeface="PT Sans"/>
                <a:cs typeface="PT Sans"/>
                <a:sym typeface="PT Sans"/>
              </a:rPr>
              <a:t>Actualmente, la difusión de eventos locales está fragmentada. La información se dispersa en redes sociales, afiches y sitios web, dificultando que los ciudadanos se enteren de la vibrante vida social y cultural que los rodea.</a:t>
            </a:r>
            <a:endParaRPr b="0" i="0" sz="2250" u="none" cap="none" strike="noStrike"/>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4"/>
          <p:cNvSpPr/>
          <p:nvPr/>
        </p:nvSpPr>
        <p:spPr>
          <a:xfrm>
            <a:off x="757238" y="1086326"/>
            <a:ext cx="4072771" cy="509111"/>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3200"/>
              <a:buFont typeface="Nunito SemiBold"/>
              <a:buNone/>
            </a:pPr>
            <a:r>
              <a:rPr b="1" i="0" lang="en-US" sz="3200" u="none" cap="none" strike="noStrike">
                <a:solidFill>
                  <a:srgbClr val="FFFFFF"/>
                </a:solidFill>
                <a:latin typeface="Nunito SemiBold"/>
                <a:ea typeface="Nunito SemiBold"/>
                <a:cs typeface="Nunito SemiBold"/>
                <a:sym typeface="Nunito SemiBold"/>
              </a:rPr>
              <a:t>Problemática</a:t>
            </a:r>
            <a:endParaRPr b="0" i="0" sz="3200" u="none" cap="none" strike="noStrike"/>
          </a:p>
        </p:txBody>
      </p:sp>
      <p:sp>
        <p:nvSpPr>
          <p:cNvPr id="146" name="Google Shape;146;p4"/>
          <p:cNvSpPr/>
          <p:nvPr/>
        </p:nvSpPr>
        <p:spPr>
          <a:xfrm>
            <a:off x="757238" y="2028111"/>
            <a:ext cx="13115925" cy="432792"/>
          </a:xfrm>
          <a:prstGeom prst="rect">
            <a:avLst/>
          </a:prstGeom>
          <a:noFill/>
          <a:ln>
            <a:noFill/>
          </a:ln>
        </p:spPr>
        <p:txBody>
          <a:bodyPr anchorCtr="0" anchor="t" bIns="0" lIns="0" spcFirstLastPara="1" rIns="0" wrap="square" tIns="0">
            <a:noAutofit/>
          </a:bodyPr>
          <a:lstStyle/>
          <a:p>
            <a:pPr indent="0" lvl="0" marL="0" marR="0" rtl="0" algn="l">
              <a:lnSpc>
                <a:spcPct val="161904"/>
              </a:lnSpc>
              <a:spcBef>
                <a:spcPts val="0"/>
              </a:spcBef>
              <a:spcAft>
                <a:spcPts val="0"/>
              </a:spcAft>
              <a:buClr>
                <a:srgbClr val="FFFFFF"/>
              </a:buClr>
              <a:buSzPts val="2100"/>
              <a:buFont typeface="PT Sans"/>
              <a:buNone/>
            </a:pPr>
            <a:r>
              <a:rPr b="0" i="0" lang="en-US" sz="2100" u="none" cap="none" strike="noStrike">
                <a:solidFill>
                  <a:srgbClr val="FFFFFF"/>
                </a:solidFill>
                <a:latin typeface="PT Sans"/>
                <a:ea typeface="PT Sans"/>
                <a:cs typeface="PT Sans"/>
                <a:sym typeface="PT Sans"/>
              </a:rPr>
              <a:t>Esta fragmentación crea dos problemas clave:</a:t>
            </a:r>
            <a:endParaRPr b="0" i="0" sz="2100" u="none" cap="none" strike="noStrike"/>
          </a:p>
        </p:txBody>
      </p:sp>
      <p:sp>
        <p:nvSpPr>
          <p:cNvPr id="147" name="Google Shape;147;p4"/>
          <p:cNvSpPr/>
          <p:nvPr/>
        </p:nvSpPr>
        <p:spPr>
          <a:xfrm>
            <a:off x="757238" y="2898934"/>
            <a:ext cx="6294001" cy="432792"/>
          </a:xfrm>
          <a:prstGeom prst="rect">
            <a:avLst/>
          </a:prstGeom>
          <a:noFill/>
          <a:ln>
            <a:noFill/>
          </a:ln>
        </p:spPr>
        <p:txBody>
          <a:bodyPr anchorCtr="0" anchor="t" bIns="0" lIns="0" spcFirstLastPara="1" rIns="0" wrap="square" tIns="0">
            <a:noAutofit/>
          </a:bodyPr>
          <a:lstStyle/>
          <a:p>
            <a:pPr indent="0" lvl="0" marL="0" marR="0" rtl="0" algn="l">
              <a:lnSpc>
                <a:spcPct val="161904"/>
              </a:lnSpc>
              <a:spcBef>
                <a:spcPts val="0"/>
              </a:spcBef>
              <a:spcAft>
                <a:spcPts val="0"/>
              </a:spcAft>
              <a:buClr>
                <a:srgbClr val="FFFFFF"/>
              </a:buClr>
              <a:buSzPts val="2100"/>
              <a:buFont typeface="PT Sans"/>
              <a:buNone/>
            </a:pPr>
            <a:r>
              <a:rPr b="0" i="0" lang="en-US" sz="2100" u="none" cap="none" strike="noStrike">
                <a:solidFill>
                  <a:srgbClr val="FFFFFF"/>
                </a:solidFill>
                <a:latin typeface="PT Sans"/>
                <a:ea typeface="PT Sans"/>
                <a:cs typeface="PT Sans"/>
                <a:sym typeface="PT Sans"/>
              </a:rPr>
              <a:t>Para los Asistentes</a:t>
            </a:r>
            <a:endParaRPr b="0" i="0" sz="2100" u="none" cap="none" strike="noStrike"/>
          </a:p>
        </p:txBody>
      </p:sp>
      <p:sp>
        <p:nvSpPr>
          <p:cNvPr id="148" name="Google Shape;148;p4"/>
          <p:cNvSpPr/>
          <p:nvPr/>
        </p:nvSpPr>
        <p:spPr>
          <a:xfrm>
            <a:off x="757238" y="3526393"/>
            <a:ext cx="6294001" cy="865584"/>
          </a:xfrm>
          <a:prstGeom prst="rect">
            <a:avLst/>
          </a:prstGeom>
          <a:noFill/>
          <a:ln>
            <a:noFill/>
          </a:ln>
        </p:spPr>
        <p:txBody>
          <a:bodyPr anchorCtr="0" anchor="t" bIns="0" lIns="0" spcFirstLastPara="1" rIns="0" wrap="square" tIns="0">
            <a:noAutofit/>
          </a:bodyPr>
          <a:lstStyle/>
          <a:p>
            <a:pPr indent="0" lvl="0" marL="0" marR="0" rtl="0" algn="l">
              <a:lnSpc>
                <a:spcPct val="161904"/>
              </a:lnSpc>
              <a:spcBef>
                <a:spcPts val="0"/>
              </a:spcBef>
              <a:spcAft>
                <a:spcPts val="0"/>
              </a:spcAft>
              <a:buClr>
                <a:srgbClr val="FFFFFF"/>
              </a:buClr>
              <a:buSzPts val="2100"/>
              <a:buFont typeface="PT Sans"/>
              <a:buNone/>
            </a:pPr>
            <a:r>
              <a:rPr b="0" i="0" lang="en-US" sz="2100" u="none" cap="none" strike="noStrike">
                <a:solidFill>
                  <a:srgbClr val="FFFFFF"/>
                </a:solidFill>
                <a:latin typeface="PT Sans"/>
                <a:ea typeface="PT Sans"/>
                <a:cs typeface="PT Sans"/>
                <a:sym typeface="PT Sans"/>
              </a:rPr>
              <a:t>Es difícil encontrar eventos de interés en un solo lugar, lo que lleva a perderse oportunidades.</a:t>
            </a:r>
            <a:endParaRPr b="0" i="0" sz="2100" u="none" cap="none" strike="noStrike"/>
          </a:p>
        </p:txBody>
      </p:sp>
      <p:sp>
        <p:nvSpPr>
          <p:cNvPr id="149" name="Google Shape;149;p4"/>
          <p:cNvSpPr/>
          <p:nvPr/>
        </p:nvSpPr>
        <p:spPr>
          <a:xfrm>
            <a:off x="7586782" y="2898934"/>
            <a:ext cx="6294001" cy="432792"/>
          </a:xfrm>
          <a:prstGeom prst="rect">
            <a:avLst/>
          </a:prstGeom>
          <a:noFill/>
          <a:ln>
            <a:noFill/>
          </a:ln>
        </p:spPr>
        <p:txBody>
          <a:bodyPr anchorCtr="0" anchor="t" bIns="0" lIns="0" spcFirstLastPara="1" rIns="0" wrap="square" tIns="0">
            <a:noAutofit/>
          </a:bodyPr>
          <a:lstStyle/>
          <a:p>
            <a:pPr indent="0" lvl="0" marL="0" marR="0" rtl="0" algn="l">
              <a:lnSpc>
                <a:spcPct val="161904"/>
              </a:lnSpc>
              <a:spcBef>
                <a:spcPts val="0"/>
              </a:spcBef>
              <a:spcAft>
                <a:spcPts val="0"/>
              </a:spcAft>
              <a:buClr>
                <a:srgbClr val="FFFFFF"/>
              </a:buClr>
              <a:buSzPts val="2100"/>
              <a:buFont typeface="PT Sans"/>
              <a:buNone/>
            </a:pPr>
            <a:r>
              <a:rPr b="0" i="0" lang="en-US" sz="2100" u="none" cap="none" strike="noStrike">
                <a:solidFill>
                  <a:srgbClr val="FFFFFF"/>
                </a:solidFill>
                <a:latin typeface="PT Sans"/>
                <a:ea typeface="PT Sans"/>
                <a:cs typeface="PT Sans"/>
                <a:sym typeface="PT Sans"/>
              </a:rPr>
              <a:t>Para los Organizadores</a:t>
            </a:r>
            <a:endParaRPr b="0" i="0" sz="2100" u="none" cap="none" strike="noStrike"/>
          </a:p>
        </p:txBody>
      </p:sp>
      <p:sp>
        <p:nvSpPr>
          <p:cNvPr id="150" name="Google Shape;150;p4"/>
          <p:cNvSpPr/>
          <p:nvPr/>
        </p:nvSpPr>
        <p:spPr>
          <a:xfrm>
            <a:off x="7586782" y="3526393"/>
            <a:ext cx="6294001" cy="865584"/>
          </a:xfrm>
          <a:prstGeom prst="rect">
            <a:avLst/>
          </a:prstGeom>
          <a:noFill/>
          <a:ln>
            <a:noFill/>
          </a:ln>
        </p:spPr>
        <p:txBody>
          <a:bodyPr anchorCtr="0" anchor="t" bIns="0" lIns="0" spcFirstLastPara="1" rIns="0" wrap="square" tIns="0">
            <a:noAutofit/>
          </a:bodyPr>
          <a:lstStyle/>
          <a:p>
            <a:pPr indent="0" lvl="0" marL="0" marR="0" rtl="0" algn="l">
              <a:lnSpc>
                <a:spcPct val="161904"/>
              </a:lnSpc>
              <a:spcBef>
                <a:spcPts val="0"/>
              </a:spcBef>
              <a:spcAft>
                <a:spcPts val="0"/>
              </a:spcAft>
              <a:buClr>
                <a:srgbClr val="FFFFFF"/>
              </a:buClr>
              <a:buSzPts val="2100"/>
              <a:buFont typeface="PT Sans"/>
              <a:buNone/>
            </a:pPr>
            <a:r>
              <a:rPr b="0" i="0" lang="en-US" sz="2100" u="none" cap="none" strike="noStrike">
                <a:solidFill>
                  <a:srgbClr val="FFFFFF"/>
                </a:solidFill>
                <a:latin typeface="PT Sans"/>
                <a:ea typeface="PT Sans"/>
                <a:cs typeface="PT Sans"/>
                <a:sym typeface="PT Sans"/>
              </a:rPr>
              <a:t>La falta de un canal centralizado les impide alcanzar a su público objetivo de manera efectiva.</a:t>
            </a:r>
            <a:endParaRPr b="0" i="0" sz="2100" u="none" cap="none" strike="noStrike"/>
          </a:p>
        </p:txBody>
      </p:sp>
      <p:sp>
        <p:nvSpPr>
          <p:cNvPr id="151" name="Google Shape;151;p4"/>
          <p:cNvSpPr/>
          <p:nvPr/>
        </p:nvSpPr>
        <p:spPr>
          <a:xfrm>
            <a:off x="757238" y="4911090"/>
            <a:ext cx="11838980" cy="516731"/>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000000"/>
              </a:buClr>
              <a:buSzPts val="3200"/>
              <a:buFont typeface="Nunito SemiBold"/>
              <a:buNone/>
            </a:pPr>
            <a:r>
              <a:rPr b="1" i="0" lang="en-US" sz="3200" u="none" cap="none" strike="noStrike">
                <a:solidFill>
                  <a:srgbClr val="000000"/>
                </a:solidFill>
                <a:latin typeface="Nunito SemiBold"/>
                <a:ea typeface="Nunito SemiBold"/>
                <a:cs typeface="Nunito SemiBold"/>
                <a:sym typeface="Nunito SemiBold"/>
              </a:rPr>
              <a:t>📉</a:t>
            </a:r>
            <a:r>
              <a:rPr b="1" i="0" lang="en-US" sz="3200" u="none" cap="none" strike="noStrike">
                <a:solidFill>
                  <a:srgbClr val="F44444"/>
                </a:solidFill>
                <a:latin typeface="Nunito SemiBold"/>
                <a:ea typeface="Nunito SemiBold"/>
                <a:cs typeface="Nunito SemiBold"/>
                <a:sym typeface="Nunito SemiBold"/>
              </a:rPr>
              <a:t> Baja asistencia:</a:t>
            </a:r>
            <a:r>
              <a:rPr b="1" i="0" lang="en-US" sz="3200" u="none" cap="none" strike="noStrike">
                <a:solidFill>
                  <a:srgbClr val="FFFFFF"/>
                </a:solidFill>
                <a:latin typeface="Nunito SemiBold"/>
                <a:ea typeface="Nunito SemiBold"/>
                <a:cs typeface="Nunito SemiBold"/>
                <a:sym typeface="Nunito SemiBold"/>
              </a:rPr>
              <a:t> Los eventos no llegan a su público potencial.</a:t>
            </a:r>
            <a:endParaRPr b="0" i="0" sz="3200" u="none" cap="none" strike="noStrike"/>
          </a:p>
        </p:txBody>
      </p:sp>
      <p:sp>
        <p:nvSpPr>
          <p:cNvPr id="152" name="Google Shape;152;p4"/>
          <p:cNvSpPr/>
          <p:nvPr/>
        </p:nvSpPr>
        <p:spPr>
          <a:xfrm>
            <a:off x="757238" y="5514261"/>
            <a:ext cx="12858631" cy="516731"/>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000000"/>
              </a:buClr>
              <a:buSzPts val="3200"/>
              <a:buFont typeface="Nunito SemiBold"/>
              <a:buNone/>
            </a:pPr>
            <a:r>
              <a:rPr b="1" i="0" lang="en-US" sz="3200" u="none" cap="none" strike="noStrike">
                <a:solidFill>
                  <a:srgbClr val="000000"/>
                </a:solidFill>
                <a:latin typeface="Nunito SemiBold"/>
                <a:ea typeface="Nunito SemiBold"/>
                <a:cs typeface="Nunito SemiBold"/>
                <a:sym typeface="Nunito SemiBold"/>
              </a:rPr>
              <a:t>💸</a:t>
            </a:r>
            <a:r>
              <a:rPr b="1" i="0" lang="en-US" sz="3200" u="none" cap="none" strike="noStrike">
                <a:solidFill>
                  <a:srgbClr val="F44444"/>
                </a:solidFill>
                <a:latin typeface="Nunito SemiBold"/>
                <a:ea typeface="Nunito SemiBold"/>
                <a:cs typeface="Nunito SemiBold"/>
                <a:sym typeface="Nunito SemiBold"/>
              </a:rPr>
              <a:t> Pérdidas económicas:</a:t>
            </a:r>
            <a:r>
              <a:rPr b="1" i="0" lang="en-US" sz="3200" u="none" cap="none" strike="noStrike">
                <a:solidFill>
                  <a:srgbClr val="FFFFFF"/>
                </a:solidFill>
                <a:latin typeface="Nunito SemiBold"/>
                <a:ea typeface="Nunito SemiBold"/>
                <a:cs typeface="Nunito SemiBold"/>
                <a:sym typeface="Nunito SemiBold"/>
              </a:rPr>
              <a:t> Para organizadores y promotores culturales.</a:t>
            </a:r>
            <a:endParaRPr b="0" i="0" sz="3200" u="none" cap="none" strike="noStrike"/>
          </a:p>
        </p:txBody>
      </p:sp>
      <p:sp>
        <p:nvSpPr>
          <p:cNvPr id="153" name="Google Shape;153;p4"/>
          <p:cNvSpPr/>
          <p:nvPr/>
        </p:nvSpPr>
        <p:spPr>
          <a:xfrm>
            <a:off x="757238" y="6117431"/>
            <a:ext cx="13115925" cy="1025843"/>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000000"/>
              </a:buClr>
              <a:buSzPts val="3200"/>
              <a:buFont typeface="Nunito SemiBold"/>
              <a:buNone/>
            </a:pPr>
            <a:r>
              <a:rPr b="1" i="0" lang="en-US" sz="3200" u="none" cap="none" strike="noStrike">
                <a:solidFill>
                  <a:srgbClr val="000000"/>
                </a:solidFill>
                <a:latin typeface="Nunito SemiBold"/>
                <a:ea typeface="Nunito SemiBold"/>
                <a:cs typeface="Nunito SemiBold"/>
                <a:sym typeface="Nunito SemiBold"/>
              </a:rPr>
              <a:t>🏛️</a:t>
            </a:r>
            <a:r>
              <a:rPr b="1" i="0" lang="en-US" sz="3200" u="none" cap="none" strike="noStrike">
                <a:solidFill>
                  <a:srgbClr val="F44444"/>
                </a:solidFill>
                <a:latin typeface="Nunito SemiBold"/>
                <a:ea typeface="Nunito SemiBold"/>
                <a:cs typeface="Nunito SemiBold"/>
                <a:sym typeface="Nunito SemiBold"/>
              </a:rPr>
              <a:t> Menor participación:</a:t>
            </a:r>
            <a:r>
              <a:rPr b="1" i="0" lang="en-US" sz="3200" u="none" cap="none" strike="noStrike">
                <a:solidFill>
                  <a:srgbClr val="FFFFFF"/>
                </a:solidFill>
                <a:latin typeface="Nunito SemiBold"/>
                <a:ea typeface="Nunito SemiBold"/>
                <a:cs typeface="Nunito SemiBold"/>
                <a:sym typeface="Nunito SemiBold"/>
              </a:rPr>
              <a:t> La comunidad pierde oportunidades de enriquecimiento cultural y social.</a:t>
            </a:r>
            <a:endParaRPr b="0" i="0" sz="3200" u="none" cap="none" strike="noStrike"/>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5"/>
          <p:cNvSpPr/>
          <p:nvPr/>
        </p:nvSpPr>
        <p:spPr>
          <a:xfrm>
            <a:off x="837724" y="2131100"/>
            <a:ext cx="4505920" cy="563285"/>
          </a:xfrm>
          <a:prstGeom prst="rect">
            <a:avLst/>
          </a:prstGeom>
          <a:noFill/>
          <a:ln>
            <a:noFill/>
          </a:ln>
        </p:spPr>
        <p:txBody>
          <a:bodyPr anchorCtr="0" anchor="t" bIns="0" lIns="0" spcFirstLastPara="1" rIns="0" wrap="square" tIns="0">
            <a:noAutofit/>
          </a:bodyPr>
          <a:lstStyle/>
          <a:p>
            <a:pPr indent="0" lvl="0" marL="0" marR="0" rtl="0" algn="l">
              <a:lnSpc>
                <a:spcPct val="125714"/>
              </a:lnSpc>
              <a:spcBef>
                <a:spcPts val="0"/>
              </a:spcBef>
              <a:spcAft>
                <a:spcPts val="0"/>
              </a:spcAft>
              <a:buClr>
                <a:srgbClr val="FFFFFF"/>
              </a:buClr>
              <a:buSzPts val="3500"/>
              <a:buFont typeface="Nunito SemiBold"/>
              <a:buNone/>
            </a:pPr>
            <a:r>
              <a:rPr b="1" i="0" lang="en-US" sz="3500" u="none" cap="none" strike="noStrike">
                <a:solidFill>
                  <a:srgbClr val="FFFFFF"/>
                </a:solidFill>
                <a:latin typeface="Nunito SemiBold"/>
                <a:ea typeface="Nunito SemiBold"/>
                <a:cs typeface="Nunito SemiBold"/>
                <a:sym typeface="Nunito SemiBold"/>
              </a:rPr>
              <a:t>Solución</a:t>
            </a:r>
            <a:endParaRPr b="0" i="0" sz="3500" u="none" cap="none" strike="noStrike"/>
          </a:p>
        </p:txBody>
      </p:sp>
      <p:pic>
        <p:nvPicPr>
          <p:cNvPr descr="preencoded.png" id="160" name="Google Shape;160;p5"/>
          <p:cNvPicPr preferRelativeResize="0"/>
          <p:nvPr/>
        </p:nvPicPr>
        <p:blipFill rotWithShape="1">
          <a:blip r:embed="rId3">
            <a:alphaModFix/>
          </a:blip>
          <a:srcRect b="0" l="0" r="0" t="0"/>
          <a:stretch/>
        </p:blipFill>
        <p:spPr>
          <a:xfrm>
            <a:off x="837724" y="3173135"/>
            <a:ext cx="598408" cy="598408"/>
          </a:xfrm>
          <a:prstGeom prst="rect">
            <a:avLst/>
          </a:prstGeom>
          <a:noFill/>
          <a:ln>
            <a:noFill/>
          </a:ln>
        </p:spPr>
      </p:pic>
      <p:sp>
        <p:nvSpPr>
          <p:cNvPr id="161" name="Google Shape;161;p5"/>
          <p:cNvSpPr/>
          <p:nvPr/>
        </p:nvSpPr>
        <p:spPr>
          <a:xfrm>
            <a:off x="837724" y="4070747"/>
            <a:ext cx="2816185" cy="351949"/>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2200"/>
              <a:buFont typeface="Nunito SemiBold"/>
              <a:buNone/>
            </a:pPr>
            <a:r>
              <a:rPr b="1" i="0" lang="en-US" sz="2200" u="none" cap="none" strike="noStrike">
                <a:solidFill>
                  <a:srgbClr val="FFFFFF"/>
                </a:solidFill>
                <a:latin typeface="Nunito SemiBold"/>
                <a:ea typeface="Nunito SemiBold"/>
                <a:cs typeface="Nunito SemiBold"/>
                <a:sym typeface="Nunito SemiBold"/>
              </a:rPr>
              <a:t>Centraliza y Visualiza</a:t>
            </a:r>
            <a:endParaRPr b="0" i="0" sz="2200" u="none" cap="none" strike="noStrike"/>
          </a:p>
        </p:txBody>
      </p:sp>
      <p:sp>
        <p:nvSpPr>
          <p:cNvPr id="162" name="Google Shape;162;p5"/>
          <p:cNvSpPr/>
          <p:nvPr/>
        </p:nvSpPr>
        <p:spPr>
          <a:xfrm>
            <a:off x="837724" y="4566285"/>
            <a:ext cx="4118848" cy="1532096"/>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Mostramos todos los eventos de la ciudad en un único mapa interactivo, haciendo el descubrimiento visual e intuitivo.</a:t>
            </a:r>
            <a:endParaRPr b="0" i="0" sz="1850" u="none" cap="none" strike="noStrike"/>
          </a:p>
        </p:txBody>
      </p:sp>
      <p:pic>
        <p:nvPicPr>
          <p:cNvPr descr="preencoded.png" id="163" name="Google Shape;163;p5"/>
          <p:cNvPicPr preferRelativeResize="0"/>
          <p:nvPr/>
        </p:nvPicPr>
        <p:blipFill rotWithShape="1">
          <a:blip r:embed="rId3">
            <a:alphaModFix/>
          </a:blip>
          <a:srcRect b="0" l="0" r="0" t="0"/>
          <a:stretch/>
        </p:blipFill>
        <p:spPr>
          <a:xfrm>
            <a:off x="5255776" y="3173135"/>
            <a:ext cx="598408" cy="598408"/>
          </a:xfrm>
          <a:prstGeom prst="rect">
            <a:avLst/>
          </a:prstGeom>
          <a:noFill/>
          <a:ln>
            <a:noFill/>
          </a:ln>
        </p:spPr>
      </p:pic>
      <p:sp>
        <p:nvSpPr>
          <p:cNvPr id="164" name="Google Shape;164;p5"/>
          <p:cNvSpPr/>
          <p:nvPr/>
        </p:nvSpPr>
        <p:spPr>
          <a:xfrm>
            <a:off x="5255776" y="4070747"/>
            <a:ext cx="3278029" cy="351949"/>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2200"/>
              <a:buFont typeface="Nunito SemiBold"/>
              <a:buNone/>
            </a:pPr>
            <a:r>
              <a:rPr b="1" i="0" lang="en-US" sz="2200" u="none" cap="none" strike="noStrike">
                <a:solidFill>
                  <a:srgbClr val="FFFFFF"/>
                </a:solidFill>
                <a:latin typeface="Nunito SemiBold"/>
                <a:ea typeface="Nunito SemiBold"/>
                <a:cs typeface="Nunito SemiBold"/>
                <a:sym typeface="Nunito SemiBold"/>
              </a:rPr>
              <a:t>Conecta con tus Intereses</a:t>
            </a:r>
            <a:endParaRPr b="0" i="0" sz="2200" u="none" cap="none" strike="noStrike"/>
          </a:p>
        </p:txBody>
      </p:sp>
      <p:sp>
        <p:nvSpPr>
          <p:cNvPr id="165" name="Google Shape;165;p5"/>
          <p:cNvSpPr/>
          <p:nvPr/>
        </p:nvSpPr>
        <p:spPr>
          <a:xfrm>
            <a:off x="5255776" y="4566285"/>
            <a:ext cx="4118848" cy="1149072"/>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Permitimos a los usuarios guardar sus eventos favoritos y recibir notificaciones para no perderse nada importante.</a:t>
            </a:r>
            <a:endParaRPr b="0" i="0" sz="1850" u="none" cap="none" strike="noStrike"/>
          </a:p>
        </p:txBody>
      </p:sp>
      <p:pic>
        <p:nvPicPr>
          <p:cNvPr descr="preencoded.png" id="166" name="Google Shape;166;p5"/>
          <p:cNvPicPr preferRelativeResize="0"/>
          <p:nvPr/>
        </p:nvPicPr>
        <p:blipFill rotWithShape="1">
          <a:blip r:embed="rId3">
            <a:alphaModFix/>
          </a:blip>
          <a:srcRect b="0" l="0" r="0" t="0"/>
          <a:stretch/>
        </p:blipFill>
        <p:spPr>
          <a:xfrm>
            <a:off x="9673828" y="3173135"/>
            <a:ext cx="598408" cy="598408"/>
          </a:xfrm>
          <a:prstGeom prst="rect">
            <a:avLst/>
          </a:prstGeom>
          <a:noFill/>
          <a:ln>
            <a:noFill/>
          </a:ln>
        </p:spPr>
      </p:pic>
      <p:sp>
        <p:nvSpPr>
          <p:cNvPr id="167" name="Google Shape;167;p5"/>
          <p:cNvSpPr/>
          <p:nvPr/>
        </p:nvSpPr>
        <p:spPr>
          <a:xfrm>
            <a:off x="9673828" y="4070747"/>
            <a:ext cx="2816185" cy="351949"/>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2200"/>
              <a:buFont typeface="Nunito SemiBold"/>
              <a:buNone/>
            </a:pPr>
            <a:r>
              <a:rPr b="1" i="0" lang="en-US" sz="2200" u="none" cap="none" strike="noStrike">
                <a:solidFill>
                  <a:srgbClr val="FFFFFF"/>
                </a:solidFill>
                <a:latin typeface="Nunito SemiBold"/>
                <a:ea typeface="Nunito SemiBold"/>
                <a:cs typeface="Nunito SemiBold"/>
                <a:sym typeface="Nunito SemiBold"/>
              </a:rPr>
              <a:t>Potencia la Difusión</a:t>
            </a:r>
            <a:endParaRPr b="0" i="0" sz="2200" u="none" cap="none" strike="noStrike"/>
          </a:p>
        </p:txBody>
      </p:sp>
      <p:sp>
        <p:nvSpPr>
          <p:cNvPr id="168" name="Google Shape;168;p5"/>
          <p:cNvSpPr/>
          <p:nvPr/>
        </p:nvSpPr>
        <p:spPr>
          <a:xfrm>
            <a:off x="9673828" y="4566285"/>
            <a:ext cx="4118848" cy="1149072"/>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Ofrecemos a los organizadores una vitrina directa y efectiva para alcanzar a la comunidad y aumentar la asistencia.</a:t>
            </a:r>
            <a:endParaRPr b="0" i="0" sz="1850" u="none" cap="none" strike="noStrike"/>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6"/>
          <p:cNvSpPr/>
          <p:nvPr/>
        </p:nvSpPr>
        <p:spPr>
          <a:xfrm>
            <a:off x="837724" y="764500"/>
            <a:ext cx="9626203" cy="971550"/>
          </a:xfrm>
          <a:prstGeom prst="rect">
            <a:avLst/>
          </a:prstGeom>
          <a:noFill/>
          <a:ln>
            <a:noFill/>
          </a:ln>
        </p:spPr>
        <p:txBody>
          <a:bodyPr anchorCtr="0" anchor="t" bIns="0" lIns="0" spcFirstLastPara="1" rIns="0" wrap="square" tIns="0">
            <a:noAutofit/>
          </a:bodyPr>
          <a:lstStyle/>
          <a:p>
            <a:pPr indent="0" lvl="0" marL="0" marR="0" rtl="0" algn="l">
              <a:lnSpc>
                <a:spcPct val="125409"/>
              </a:lnSpc>
              <a:spcBef>
                <a:spcPts val="0"/>
              </a:spcBef>
              <a:spcAft>
                <a:spcPts val="0"/>
              </a:spcAft>
              <a:buClr>
                <a:srgbClr val="FFFFFF"/>
              </a:buClr>
              <a:buSzPts val="6100"/>
              <a:buFont typeface="Nunito SemiBold"/>
              <a:buNone/>
            </a:pPr>
            <a:r>
              <a:rPr b="1" i="0" lang="en-US" sz="6100" u="none" cap="none" strike="noStrike">
                <a:solidFill>
                  <a:srgbClr val="FFFFFF"/>
                </a:solidFill>
                <a:latin typeface="Nunito SemiBold"/>
                <a:ea typeface="Nunito SemiBold"/>
                <a:cs typeface="Nunito SemiBold"/>
                <a:sym typeface="Nunito SemiBold"/>
              </a:rPr>
              <a:t>Arquitectura de la Solución</a:t>
            </a:r>
            <a:endParaRPr b="0" i="0" sz="6100" u="none" cap="none" strike="noStrike"/>
          </a:p>
        </p:txBody>
      </p:sp>
      <p:sp>
        <p:nvSpPr>
          <p:cNvPr id="175" name="Google Shape;175;p6"/>
          <p:cNvSpPr/>
          <p:nvPr/>
        </p:nvSpPr>
        <p:spPr>
          <a:xfrm>
            <a:off x="837724" y="2310408"/>
            <a:ext cx="7539395" cy="1435894"/>
          </a:xfrm>
          <a:prstGeom prst="rect">
            <a:avLst/>
          </a:prstGeom>
          <a:noFill/>
          <a:ln>
            <a:noFill/>
          </a:ln>
        </p:spPr>
        <p:txBody>
          <a:bodyPr anchorCtr="0" anchor="t" bIns="0" lIns="0" spcFirstLastPara="1" rIns="0" wrap="square" tIns="0">
            <a:noAutofit/>
          </a:bodyPr>
          <a:lstStyle/>
          <a:p>
            <a:pPr indent="0" lvl="0" marL="0" marR="0" rtl="0" algn="l">
              <a:lnSpc>
                <a:spcPct val="159574"/>
              </a:lnSpc>
              <a:spcBef>
                <a:spcPts val="0"/>
              </a:spcBef>
              <a:spcAft>
                <a:spcPts val="0"/>
              </a:spcAft>
              <a:buClr>
                <a:srgbClr val="FFFFFF"/>
              </a:buClr>
              <a:buSzPts val="2350"/>
              <a:buFont typeface="PT Sans"/>
              <a:buNone/>
            </a:pPr>
            <a:r>
              <a:rPr b="0" i="0" lang="en-US" sz="2350" u="none" cap="none" strike="noStrike">
                <a:solidFill>
                  <a:srgbClr val="FFFFFF"/>
                </a:solidFill>
                <a:latin typeface="PT Sans"/>
                <a:ea typeface="PT Sans"/>
                <a:cs typeface="PT Sans"/>
                <a:sym typeface="PT Sans"/>
              </a:rPr>
              <a:t>Nuestra arquitectura se basa en un stack tecnológico moderno que garantiza velocidad, escalabilidad y una excelente experiencia de usuario.</a:t>
            </a:r>
            <a:endParaRPr b="0" i="0" sz="2350" u="none" cap="none" strike="noStrike"/>
          </a:p>
        </p:txBody>
      </p:sp>
      <p:sp>
        <p:nvSpPr>
          <p:cNvPr id="176" name="Google Shape;176;p6"/>
          <p:cNvSpPr/>
          <p:nvPr/>
        </p:nvSpPr>
        <p:spPr>
          <a:xfrm>
            <a:off x="837724" y="3961686"/>
            <a:ext cx="7539395" cy="478631"/>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1" i="0" lang="en-US" sz="1850" u="none" cap="none" strike="noStrike">
                <a:solidFill>
                  <a:srgbClr val="FFFFFF"/>
                </a:solidFill>
                <a:latin typeface="PT Sans"/>
                <a:ea typeface="PT Sans"/>
                <a:cs typeface="PT Sans"/>
                <a:sym typeface="PT Sans"/>
              </a:rPr>
              <a:t>Frontend:</a:t>
            </a:r>
            <a:r>
              <a:rPr b="0" i="0" lang="en-US" sz="1850" u="none" cap="none" strike="noStrike">
                <a:solidFill>
                  <a:srgbClr val="FFFFFF"/>
                </a:solidFill>
                <a:latin typeface="PT Sans"/>
                <a:ea typeface="PT Sans"/>
                <a:cs typeface="PT Sans"/>
                <a:sym typeface="PT Sans"/>
              </a:rPr>
              <a:t> React, Vite, Tailwind CSS, Leaflet</a:t>
            </a:r>
            <a:endParaRPr b="0" i="0" sz="1850" u="none" cap="none" strike="noStrike"/>
          </a:p>
        </p:txBody>
      </p:sp>
      <p:sp>
        <p:nvSpPr>
          <p:cNvPr id="177" name="Google Shape;177;p6"/>
          <p:cNvSpPr/>
          <p:nvPr/>
        </p:nvSpPr>
        <p:spPr>
          <a:xfrm>
            <a:off x="837724" y="4524018"/>
            <a:ext cx="7539395" cy="478631"/>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1" i="0" lang="en-US" sz="1850" u="none" cap="none" strike="noStrike">
                <a:solidFill>
                  <a:srgbClr val="FFFFFF"/>
                </a:solidFill>
                <a:latin typeface="PT Sans"/>
                <a:ea typeface="PT Sans"/>
                <a:cs typeface="PT Sans"/>
                <a:sym typeface="PT Sans"/>
              </a:rPr>
              <a:t>Móvil:</a:t>
            </a:r>
            <a:r>
              <a:rPr b="0" i="0" lang="en-US" sz="1850" u="none" cap="none" strike="noStrike">
                <a:solidFill>
                  <a:srgbClr val="FFFFFF"/>
                </a:solidFill>
                <a:latin typeface="PT Sans"/>
                <a:ea typeface="PT Sans"/>
                <a:cs typeface="PT Sans"/>
                <a:sym typeface="PT Sans"/>
              </a:rPr>
              <a:t> Capacitor para empaquetado nativo</a:t>
            </a:r>
            <a:endParaRPr b="0" i="0" sz="1850" u="none" cap="none" strike="noStrike"/>
          </a:p>
        </p:txBody>
      </p:sp>
      <p:sp>
        <p:nvSpPr>
          <p:cNvPr id="178" name="Google Shape;178;p6"/>
          <p:cNvSpPr/>
          <p:nvPr/>
        </p:nvSpPr>
        <p:spPr>
          <a:xfrm>
            <a:off x="837724" y="5086350"/>
            <a:ext cx="7539395" cy="957263"/>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1" i="0" lang="en-US" sz="1850" u="none" cap="none" strike="noStrike">
                <a:solidFill>
                  <a:srgbClr val="FFFFFF"/>
                </a:solidFill>
                <a:latin typeface="PT Sans"/>
                <a:ea typeface="PT Sans"/>
                <a:cs typeface="PT Sans"/>
                <a:sym typeface="PT Sans"/>
              </a:rPr>
              <a:t>Backend y BD:</a:t>
            </a:r>
            <a:r>
              <a:rPr b="0" i="0" lang="en-US" sz="1850" u="none" cap="none" strike="noStrike">
                <a:solidFill>
                  <a:srgbClr val="FFFFFF"/>
                </a:solidFill>
                <a:latin typeface="PT Sans"/>
                <a:ea typeface="PT Sans"/>
                <a:cs typeface="PT Sans"/>
                <a:sym typeface="PT Sans"/>
              </a:rPr>
              <a:t> Supabase (Base de Datos PostgreSQL, Autenticación y APIs)</a:t>
            </a:r>
            <a:endParaRPr b="0" i="0" sz="1850" u="none" cap="none" strike="noStrike"/>
          </a:p>
        </p:txBody>
      </p:sp>
      <p:pic>
        <p:nvPicPr>
          <p:cNvPr descr="preencoded.png" id="179" name="Google Shape;179;p6"/>
          <p:cNvPicPr preferRelativeResize="0"/>
          <p:nvPr/>
        </p:nvPicPr>
        <p:blipFill rotWithShape="1">
          <a:blip r:embed="rId3">
            <a:alphaModFix/>
          </a:blip>
          <a:srcRect b="0" l="0" r="0" t="0"/>
          <a:stretch/>
        </p:blipFill>
        <p:spPr>
          <a:xfrm>
            <a:off x="8968621" y="2364224"/>
            <a:ext cx="4831556" cy="483155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7"/>
          <p:cNvSpPr/>
          <p:nvPr/>
        </p:nvSpPr>
        <p:spPr>
          <a:xfrm>
            <a:off x="837724" y="2948821"/>
            <a:ext cx="5632490" cy="704017"/>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4400"/>
              <a:buFont typeface="Nunito SemiBold"/>
              <a:buNone/>
            </a:pPr>
            <a:r>
              <a:rPr b="1" i="0" lang="en-US" sz="4400" u="none" cap="none" strike="noStrike">
                <a:solidFill>
                  <a:srgbClr val="FFFFFF"/>
                </a:solidFill>
                <a:latin typeface="Nunito SemiBold"/>
                <a:ea typeface="Nunito SemiBold"/>
                <a:cs typeface="Nunito SemiBold"/>
                <a:sym typeface="Nunito SemiBold"/>
              </a:rPr>
              <a:t>Metodología</a:t>
            </a:r>
            <a:endParaRPr b="0" i="0" sz="4400" u="none" cap="none" strike="noStrike"/>
          </a:p>
        </p:txBody>
      </p:sp>
      <p:sp>
        <p:nvSpPr>
          <p:cNvPr id="186" name="Google Shape;186;p7"/>
          <p:cNvSpPr/>
          <p:nvPr/>
        </p:nvSpPr>
        <p:spPr>
          <a:xfrm>
            <a:off x="837724" y="4131588"/>
            <a:ext cx="12954952" cy="1149072"/>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Utilizamos Scrum como marco de trabajo ágil. El proyecto se organizó en 7 sprints a lo largo de 16 semanas. Cada sprint incluyó ciclos de planificación, ejecución y retrospectiva, lo que nos permitió adaptarnos a los desafíos y entregar valor de forma continua.</a:t>
            </a:r>
            <a:endParaRPr b="0" i="0" sz="1850" u="none" cap="none" strike="noStrike"/>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8"/>
          <p:cNvSpPr/>
          <p:nvPr/>
        </p:nvSpPr>
        <p:spPr>
          <a:xfrm>
            <a:off x="779264" y="616387"/>
            <a:ext cx="7230547" cy="903803"/>
          </a:xfrm>
          <a:prstGeom prst="rect">
            <a:avLst/>
          </a:prstGeom>
          <a:noFill/>
          <a:ln>
            <a:noFill/>
          </a:ln>
        </p:spPr>
        <p:txBody>
          <a:bodyPr anchorCtr="0" anchor="t" bIns="0" lIns="0" spcFirstLastPara="1" rIns="0" wrap="square" tIns="0">
            <a:noAutofit/>
          </a:bodyPr>
          <a:lstStyle/>
          <a:p>
            <a:pPr indent="0" lvl="0" marL="0" marR="0" rtl="0" algn="l">
              <a:lnSpc>
                <a:spcPct val="125663"/>
              </a:lnSpc>
              <a:spcBef>
                <a:spcPts val="0"/>
              </a:spcBef>
              <a:spcAft>
                <a:spcPts val="0"/>
              </a:spcAft>
              <a:buClr>
                <a:srgbClr val="FFFFFF"/>
              </a:buClr>
              <a:buSzPts val="5650"/>
              <a:buFont typeface="Nunito SemiBold"/>
              <a:buNone/>
            </a:pPr>
            <a:r>
              <a:rPr b="1" i="0" lang="en-US" sz="5650" u="none" cap="none" strike="noStrike">
                <a:solidFill>
                  <a:srgbClr val="FFFFFF"/>
                </a:solidFill>
                <a:latin typeface="Nunito SemiBold"/>
                <a:ea typeface="Nunito SemiBold"/>
                <a:cs typeface="Nunito SemiBold"/>
                <a:sym typeface="Nunito SemiBold"/>
              </a:rPr>
              <a:t>Equipo</a:t>
            </a:r>
            <a:endParaRPr b="0" i="0" sz="5650" u="none" cap="none" strike="noStrike"/>
          </a:p>
        </p:txBody>
      </p:sp>
      <p:pic>
        <p:nvPicPr>
          <p:cNvPr descr="preencoded.png" id="193" name="Google Shape;193;p8"/>
          <p:cNvPicPr preferRelativeResize="0"/>
          <p:nvPr/>
        </p:nvPicPr>
        <p:blipFill rotWithShape="1">
          <a:blip r:embed="rId3">
            <a:alphaModFix/>
          </a:blip>
          <a:srcRect b="0" l="0" r="0" t="0"/>
          <a:stretch/>
        </p:blipFill>
        <p:spPr>
          <a:xfrm>
            <a:off x="779264" y="2104668"/>
            <a:ext cx="3949779" cy="3949779"/>
          </a:xfrm>
          <a:prstGeom prst="rect">
            <a:avLst/>
          </a:prstGeom>
          <a:noFill/>
          <a:ln>
            <a:noFill/>
          </a:ln>
        </p:spPr>
      </p:pic>
      <p:sp>
        <p:nvSpPr>
          <p:cNvPr id="194" name="Google Shape;194;p8"/>
          <p:cNvSpPr/>
          <p:nvPr/>
        </p:nvSpPr>
        <p:spPr>
          <a:xfrm>
            <a:off x="779264" y="6304955"/>
            <a:ext cx="3143607" cy="392906"/>
          </a:xfrm>
          <a:prstGeom prst="rect">
            <a:avLst/>
          </a:prstGeom>
          <a:noFill/>
          <a:ln>
            <a:noFill/>
          </a:ln>
        </p:spPr>
        <p:txBody>
          <a:bodyPr anchorCtr="0" anchor="t" bIns="0" lIns="0" spcFirstLastPara="1" rIns="0" wrap="square" tIns="0">
            <a:noAutofit/>
          </a:bodyPr>
          <a:lstStyle/>
          <a:p>
            <a:pPr indent="0" lvl="0" marL="0" marR="0" rtl="0" algn="l">
              <a:lnSpc>
                <a:spcPct val="124489"/>
              </a:lnSpc>
              <a:spcBef>
                <a:spcPts val="0"/>
              </a:spcBef>
              <a:spcAft>
                <a:spcPts val="0"/>
              </a:spcAft>
              <a:buClr>
                <a:srgbClr val="FFFFFF"/>
              </a:buClr>
              <a:buSzPts val="2450"/>
              <a:buFont typeface="Nunito SemiBold"/>
              <a:buNone/>
            </a:pPr>
            <a:r>
              <a:rPr b="1" i="0" lang="en-US" sz="2450" u="none" cap="none" strike="noStrike">
                <a:solidFill>
                  <a:srgbClr val="FFFFFF"/>
                </a:solidFill>
                <a:latin typeface="Nunito SemiBold"/>
                <a:ea typeface="Nunito SemiBold"/>
                <a:cs typeface="Nunito SemiBold"/>
                <a:sym typeface="Nunito SemiBold"/>
              </a:rPr>
              <a:t>Iván Diaz</a:t>
            </a:r>
            <a:endParaRPr b="0" i="0" sz="2450" u="none" cap="none" strike="noStrike"/>
          </a:p>
        </p:txBody>
      </p:sp>
      <p:sp>
        <p:nvSpPr>
          <p:cNvPr id="195" name="Google Shape;195;p8"/>
          <p:cNvSpPr/>
          <p:nvPr/>
        </p:nvSpPr>
        <p:spPr>
          <a:xfrm>
            <a:off x="779264" y="6920508"/>
            <a:ext cx="3949779" cy="356235"/>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Frontend Developer &amp; UI/UX Designer</a:t>
            </a:r>
            <a:endParaRPr b="0" i="0" sz="1750" u="none" cap="none" strike="noStrike"/>
          </a:p>
        </p:txBody>
      </p:sp>
      <p:sp>
        <p:nvSpPr>
          <p:cNvPr id="196" name="Google Shape;196;p8"/>
          <p:cNvSpPr/>
          <p:nvPr/>
        </p:nvSpPr>
        <p:spPr>
          <a:xfrm>
            <a:off x="5279827" y="6304955"/>
            <a:ext cx="3143607" cy="392906"/>
          </a:xfrm>
          <a:prstGeom prst="rect">
            <a:avLst/>
          </a:prstGeom>
          <a:noFill/>
          <a:ln>
            <a:noFill/>
          </a:ln>
        </p:spPr>
        <p:txBody>
          <a:bodyPr anchorCtr="0" anchor="t" bIns="0" lIns="0" spcFirstLastPara="1" rIns="0" wrap="square" tIns="0">
            <a:noAutofit/>
          </a:bodyPr>
          <a:lstStyle/>
          <a:p>
            <a:pPr indent="0" lvl="0" marL="0" marR="0" rtl="0" algn="l">
              <a:lnSpc>
                <a:spcPct val="124489"/>
              </a:lnSpc>
              <a:spcBef>
                <a:spcPts val="0"/>
              </a:spcBef>
              <a:spcAft>
                <a:spcPts val="0"/>
              </a:spcAft>
              <a:buClr>
                <a:srgbClr val="FFFFFF"/>
              </a:buClr>
              <a:buSzPts val="2450"/>
              <a:buFont typeface="Nunito SemiBold"/>
              <a:buNone/>
            </a:pPr>
            <a:r>
              <a:rPr b="1" i="0" lang="en-US" sz="2450" u="none" cap="none" strike="noStrike">
                <a:solidFill>
                  <a:srgbClr val="FFFFFF"/>
                </a:solidFill>
                <a:latin typeface="Nunito SemiBold"/>
                <a:ea typeface="Nunito SemiBold"/>
                <a:cs typeface="Nunito SemiBold"/>
                <a:sym typeface="Nunito SemiBold"/>
              </a:rPr>
              <a:t>Diego Valenzuela</a:t>
            </a:r>
            <a:endParaRPr b="0" i="0" sz="2450" u="none" cap="none" strike="noStrike"/>
          </a:p>
        </p:txBody>
      </p:sp>
      <p:sp>
        <p:nvSpPr>
          <p:cNvPr id="197" name="Google Shape;197;p8"/>
          <p:cNvSpPr/>
          <p:nvPr/>
        </p:nvSpPr>
        <p:spPr>
          <a:xfrm>
            <a:off x="5279827" y="6920508"/>
            <a:ext cx="3949779" cy="356235"/>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Solution Architect &amp; Security Specialist</a:t>
            </a:r>
            <a:endParaRPr b="0" i="0" sz="1750" u="none" cap="none" strike="noStrike"/>
          </a:p>
        </p:txBody>
      </p:sp>
      <p:pic>
        <p:nvPicPr>
          <p:cNvPr descr="preencoded.png" id="198" name="Google Shape;198;p8"/>
          <p:cNvPicPr preferRelativeResize="0"/>
          <p:nvPr/>
        </p:nvPicPr>
        <p:blipFill rotWithShape="1">
          <a:blip r:embed="rId4">
            <a:alphaModFix/>
          </a:blip>
          <a:srcRect b="0" l="0" r="0" t="0"/>
          <a:stretch/>
        </p:blipFill>
        <p:spPr>
          <a:xfrm>
            <a:off x="9780389" y="2104668"/>
            <a:ext cx="4085868" cy="4085868"/>
          </a:xfrm>
          <a:prstGeom prst="rect">
            <a:avLst/>
          </a:prstGeom>
          <a:noFill/>
          <a:ln>
            <a:noFill/>
          </a:ln>
        </p:spPr>
      </p:pic>
      <p:sp>
        <p:nvSpPr>
          <p:cNvPr id="199" name="Google Shape;199;p8"/>
          <p:cNvSpPr/>
          <p:nvPr/>
        </p:nvSpPr>
        <p:spPr>
          <a:xfrm>
            <a:off x="9780389" y="6441043"/>
            <a:ext cx="3143607" cy="392906"/>
          </a:xfrm>
          <a:prstGeom prst="rect">
            <a:avLst/>
          </a:prstGeom>
          <a:noFill/>
          <a:ln>
            <a:noFill/>
          </a:ln>
        </p:spPr>
        <p:txBody>
          <a:bodyPr anchorCtr="0" anchor="t" bIns="0" lIns="0" spcFirstLastPara="1" rIns="0" wrap="square" tIns="0">
            <a:noAutofit/>
          </a:bodyPr>
          <a:lstStyle/>
          <a:p>
            <a:pPr indent="0" lvl="0" marL="0" marR="0" rtl="0" algn="l">
              <a:lnSpc>
                <a:spcPct val="124489"/>
              </a:lnSpc>
              <a:spcBef>
                <a:spcPts val="0"/>
              </a:spcBef>
              <a:spcAft>
                <a:spcPts val="0"/>
              </a:spcAft>
              <a:buClr>
                <a:srgbClr val="FFFFFF"/>
              </a:buClr>
              <a:buSzPts val="2450"/>
              <a:buFont typeface="Nunito SemiBold"/>
              <a:buNone/>
            </a:pPr>
            <a:r>
              <a:rPr b="1" i="0" lang="en-US" sz="2450" u="none" cap="none" strike="noStrike">
                <a:solidFill>
                  <a:srgbClr val="FFFFFF"/>
                </a:solidFill>
                <a:latin typeface="Nunito SemiBold"/>
                <a:ea typeface="Nunito SemiBold"/>
                <a:cs typeface="Nunito SemiBold"/>
                <a:sym typeface="Nunito SemiBold"/>
              </a:rPr>
              <a:t>Alejandro Troncoso</a:t>
            </a:r>
            <a:endParaRPr b="0" i="0" sz="2450" u="none" cap="none" strike="noStrike"/>
          </a:p>
        </p:txBody>
      </p:sp>
      <p:sp>
        <p:nvSpPr>
          <p:cNvPr id="200" name="Google Shape;200;p8"/>
          <p:cNvSpPr/>
          <p:nvPr/>
        </p:nvSpPr>
        <p:spPr>
          <a:xfrm>
            <a:off x="9780389" y="7056596"/>
            <a:ext cx="4085868" cy="356235"/>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Backend Developer &amp; AI Integration Lead</a:t>
            </a:r>
            <a:endParaRPr b="0" i="0" sz="1750" u="none" cap="none" strike="noStrike"/>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9"/>
          <p:cNvSpPr/>
          <p:nvPr/>
        </p:nvSpPr>
        <p:spPr>
          <a:xfrm>
            <a:off x="837724" y="1233368"/>
            <a:ext cx="7772757" cy="971550"/>
          </a:xfrm>
          <a:prstGeom prst="rect">
            <a:avLst/>
          </a:prstGeom>
          <a:noFill/>
          <a:ln>
            <a:noFill/>
          </a:ln>
        </p:spPr>
        <p:txBody>
          <a:bodyPr anchorCtr="0" anchor="t" bIns="0" lIns="0" spcFirstLastPara="1" rIns="0" wrap="square" tIns="0">
            <a:noAutofit/>
          </a:bodyPr>
          <a:lstStyle/>
          <a:p>
            <a:pPr indent="0" lvl="0" marL="0" marR="0" rtl="0" algn="l">
              <a:lnSpc>
                <a:spcPct val="125409"/>
              </a:lnSpc>
              <a:spcBef>
                <a:spcPts val="0"/>
              </a:spcBef>
              <a:spcAft>
                <a:spcPts val="0"/>
              </a:spcAft>
              <a:buClr>
                <a:srgbClr val="FFFFFF"/>
              </a:buClr>
              <a:buSzPts val="6100"/>
              <a:buFont typeface="Nunito SemiBold"/>
              <a:buNone/>
            </a:pPr>
            <a:r>
              <a:rPr b="1" i="0" lang="en-US" sz="6100" u="none" cap="none" strike="noStrike">
                <a:solidFill>
                  <a:srgbClr val="FFFFFF"/>
                </a:solidFill>
                <a:latin typeface="Nunito SemiBold"/>
                <a:ea typeface="Nunito SemiBold"/>
                <a:cs typeface="Nunito SemiBold"/>
                <a:sym typeface="Nunito SemiBold"/>
              </a:rPr>
              <a:t>Historias de Usuario</a:t>
            </a:r>
            <a:endParaRPr b="0" i="0" sz="6100" u="none" cap="none" strike="noStrike"/>
          </a:p>
        </p:txBody>
      </p:sp>
      <p:sp>
        <p:nvSpPr>
          <p:cNvPr id="207" name="Google Shape;207;p9"/>
          <p:cNvSpPr/>
          <p:nvPr/>
        </p:nvSpPr>
        <p:spPr>
          <a:xfrm>
            <a:off x="837724" y="2683669"/>
            <a:ext cx="12954952"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Para entender mejor las necesidades de nuestros usuarios y administradores, hemos definido las siguientes épicas:</a:t>
            </a:r>
            <a:endParaRPr b="0" i="0" sz="1850" u="none" cap="none" strike="noStrike"/>
          </a:p>
        </p:txBody>
      </p:sp>
      <p:pic>
        <p:nvPicPr>
          <p:cNvPr descr="preencoded.png" id="208" name="Google Shape;208;p9"/>
          <p:cNvPicPr preferRelativeResize="0"/>
          <p:nvPr/>
        </p:nvPicPr>
        <p:blipFill rotWithShape="1">
          <a:blip r:embed="rId3">
            <a:alphaModFix/>
          </a:blip>
          <a:srcRect b="0" l="0" r="0" t="0"/>
          <a:stretch/>
        </p:blipFill>
        <p:spPr>
          <a:xfrm>
            <a:off x="837724" y="3335893"/>
            <a:ext cx="598408" cy="598408"/>
          </a:xfrm>
          <a:prstGeom prst="rect">
            <a:avLst/>
          </a:prstGeom>
          <a:noFill/>
          <a:ln>
            <a:noFill/>
          </a:ln>
        </p:spPr>
      </p:pic>
      <p:sp>
        <p:nvSpPr>
          <p:cNvPr id="209" name="Google Shape;209;p9"/>
          <p:cNvSpPr/>
          <p:nvPr/>
        </p:nvSpPr>
        <p:spPr>
          <a:xfrm>
            <a:off x="837724" y="4233505"/>
            <a:ext cx="4051102" cy="351949"/>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2200"/>
              <a:buFont typeface="Nunito SemiBold"/>
              <a:buNone/>
            </a:pPr>
            <a:r>
              <a:rPr b="1" i="0" lang="en-US" sz="2200" u="none" cap="none" strike="noStrike">
                <a:solidFill>
                  <a:srgbClr val="FFFFFF"/>
                </a:solidFill>
                <a:latin typeface="Nunito SemiBold"/>
                <a:ea typeface="Nunito SemiBold"/>
                <a:cs typeface="Nunito SemiBold"/>
                <a:sym typeface="Nunito SemiBold"/>
              </a:rPr>
              <a:t>Épica 1: Exploración de Eventos</a:t>
            </a:r>
            <a:endParaRPr b="0" i="0" sz="2200" u="none" cap="none" strike="noStrike"/>
          </a:p>
        </p:txBody>
      </p:sp>
      <p:sp>
        <p:nvSpPr>
          <p:cNvPr id="210" name="Google Shape;210;p9"/>
          <p:cNvSpPr/>
          <p:nvPr/>
        </p:nvSpPr>
        <p:spPr>
          <a:xfrm>
            <a:off x="837724" y="4729043"/>
            <a:ext cx="4118848" cy="1149072"/>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"Como usuario, quiero explorar eventos en un mapa para descubrir qué sucede cerca de mí de forma visual e intuitiva."</a:t>
            </a:r>
            <a:endParaRPr b="0" i="0" sz="1850" u="none" cap="none" strike="noStrike"/>
          </a:p>
        </p:txBody>
      </p:sp>
      <p:pic>
        <p:nvPicPr>
          <p:cNvPr descr="preencoded.png" id="211" name="Google Shape;211;p9"/>
          <p:cNvPicPr preferRelativeResize="0"/>
          <p:nvPr/>
        </p:nvPicPr>
        <p:blipFill rotWithShape="1">
          <a:blip r:embed="rId3">
            <a:alphaModFix/>
          </a:blip>
          <a:srcRect b="0" l="0" r="0" t="0"/>
          <a:stretch/>
        </p:blipFill>
        <p:spPr>
          <a:xfrm>
            <a:off x="5255776" y="3335893"/>
            <a:ext cx="598408" cy="598408"/>
          </a:xfrm>
          <a:prstGeom prst="rect">
            <a:avLst/>
          </a:prstGeom>
          <a:noFill/>
          <a:ln>
            <a:noFill/>
          </a:ln>
        </p:spPr>
      </p:pic>
      <p:sp>
        <p:nvSpPr>
          <p:cNvPr id="212" name="Google Shape;212;p9"/>
          <p:cNvSpPr/>
          <p:nvPr/>
        </p:nvSpPr>
        <p:spPr>
          <a:xfrm>
            <a:off x="5255776" y="4233505"/>
            <a:ext cx="3686651" cy="351949"/>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2200"/>
              <a:buFont typeface="Nunito SemiBold"/>
              <a:buNone/>
            </a:pPr>
            <a:r>
              <a:rPr b="1" i="0" lang="en-US" sz="2200" u="none" cap="none" strike="noStrike">
                <a:solidFill>
                  <a:srgbClr val="FFFFFF"/>
                </a:solidFill>
                <a:latin typeface="Nunito SemiBold"/>
                <a:ea typeface="Nunito SemiBold"/>
                <a:cs typeface="Nunito SemiBold"/>
                <a:sym typeface="Nunito SemiBold"/>
              </a:rPr>
              <a:t>Épica 2: Gestión de Intereses</a:t>
            </a:r>
            <a:endParaRPr b="0" i="0" sz="2200" u="none" cap="none" strike="noStrike"/>
          </a:p>
        </p:txBody>
      </p:sp>
      <p:sp>
        <p:nvSpPr>
          <p:cNvPr id="213" name="Google Shape;213;p9"/>
          <p:cNvSpPr/>
          <p:nvPr/>
        </p:nvSpPr>
        <p:spPr>
          <a:xfrm>
            <a:off x="5255776" y="4729043"/>
            <a:ext cx="4118848" cy="1532096"/>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"Como usuario, quiero guardar mis eventos favoritos y recibir notificaciones para estar siempre informado de lo que me interesa."</a:t>
            </a:r>
            <a:endParaRPr b="0" i="0" sz="1850" u="none" cap="none" strike="noStrike"/>
          </a:p>
        </p:txBody>
      </p:sp>
      <p:pic>
        <p:nvPicPr>
          <p:cNvPr descr="preencoded.png" id="214" name="Google Shape;214;p9"/>
          <p:cNvPicPr preferRelativeResize="0"/>
          <p:nvPr/>
        </p:nvPicPr>
        <p:blipFill rotWithShape="1">
          <a:blip r:embed="rId3">
            <a:alphaModFix/>
          </a:blip>
          <a:srcRect b="0" l="0" r="0" t="0"/>
          <a:stretch/>
        </p:blipFill>
        <p:spPr>
          <a:xfrm>
            <a:off x="9673828" y="3335893"/>
            <a:ext cx="598408" cy="598408"/>
          </a:xfrm>
          <a:prstGeom prst="rect">
            <a:avLst/>
          </a:prstGeom>
          <a:noFill/>
          <a:ln>
            <a:noFill/>
          </a:ln>
        </p:spPr>
      </p:pic>
      <p:sp>
        <p:nvSpPr>
          <p:cNvPr id="215" name="Google Shape;215;p9"/>
          <p:cNvSpPr/>
          <p:nvPr/>
        </p:nvSpPr>
        <p:spPr>
          <a:xfrm>
            <a:off x="9673828" y="4233505"/>
            <a:ext cx="4118848" cy="70389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FFFFF"/>
              </a:buClr>
              <a:buSzPts val="2200"/>
              <a:buFont typeface="Nunito SemiBold"/>
              <a:buNone/>
            </a:pPr>
            <a:r>
              <a:rPr b="1" i="0" lang="en-US" sz="2200" u="none" cap="none" strike="noStrike">
                <a:solidFill>
                  <a:srgbClr val="FFFFFF"/>
                </a:solidFill>
                <a:latin typeface="Nunito SemiBold"/>
                <a:ea typeface="Nunito SemiBold"/>
                <a:cs typeface="Nunito SemiBold"/>
                <a:sym typeface="Nunito SemiBold"/>
              </a:rPr>
              <a:t>Épica 3: Administración de Contenido</a:t>
            </a:r>
            <a:endParaRPr b="0" i="0" sz="2200" u="none" cap="none" strike="noStrike"/>
          </a:p>
        </p:txBody>
      </p:sp>
      <p:sp>
        <p:nvSpPr>
          <p:cNvPr id="216" name="Google Shape;216;p9"/>
          <p:cNvSpPr/>
          <p:nvPr/>
        </p:nvSpPr>
        <p:spPr>
          <a:xfrm>
            <a:off x="9673828" y="5080992"/>
            <a:ext cx="4118848" cy="1915120"/>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"Como administrador, necesito una herramienta para gestionar y aprobar eventos, asegurando la calidad y relevancia del contenido en la plataforma."</a:t>
            </a:r>
            <a:endParaRPr b="0" i="0" sz="1850" u="none" cap="none" strike="noStrike"/>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10"/>
          <p:cNvSpPr/>
          <p:nvPr/>
        </p:nvSpPr>
        <p:spPr>
          <a:xfrm>
            <a:off x="778550" y="624245"/>
            <a:ext cx="9175194" cy="654368"/>
          </a:xfrm>
          <a:prstGeom prst="rect">
            <a:avLst/>
          </a:prstGeom>
          <a:noFill/>
          <a:ln>
            <a:noFill/>
          </a:ln>
        </p:spPr>
        <p:txBody>
          <a:bodyPr anchorCtr="0" anchor="t" bIns="0" lIns="0" spcFirstLastPara="1" rIns="0" wrap="square" tIns="0">
            <a:noAutofit/>
          </a:bodyPr>
          <a:lstStyle/>
          <a:p>
            <a:pPr indent="0" lvl="0" marL="0" marR="0" rtl="0" algn="l">
              <a:lnSpc>
                <a:spcPct val="125609"/>
              </a:lnSpc>
              <a:spcBef>
                <a:spcPts val="0"/>
              </a:spcBef>
              <a:spcAft>
                <a:spcPts val="0"/>
              </a:spcAft>
              <a:buClr>
                <a:srgbClr val="FFFFFF"/>
              </a:buClr>
              <a:buSzPts val="4100"/>
              <a:buFont typeface="Nunito SemiBold"/>
              <a:buNone/>
            </a:pPr>
            <a:r>
              <a:rPr b="1" i="0" lang="en-US" sz="4100" u="none" cap="none" strike="noStrike">
                <a:solidFill>
                  <a:srgbClr val="FFFFFF"/>
                </a:solidFill>
                <a:latin typeface="Nunito SemiBold"/>
                <a:ea typeface="Nunito SemiBold"/>
                <a:cs typeface="Nunito SemiBold"/>
                <a:sym typeface="Nunito SemiBold"/>
              </a:rPr>
              <a:t>Sprints: Nuestro Camino de Desarrollo</a:t>
            </a:r>
            <a:endParaRPr b="0" i="0" sz="4100" u="none" cap="none" strike="noStrike"/>
          </a:p>
        </p:txBody>
      </p:sp>
      <p:sp>
        <p:nvSpPr>
          <p:cNvPr id="223" name="Google Shape;223;p10"/>
          <p:cNvSpPr/>
          <p:nvPr/>
        </p:nvSpPr>
        <p:spPr>
          <a:xfrm>
            <a:off x="778550" y="1723549"/>
            <a:ext cx="13073301" cy="711994"/>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Utilizamos un enfoque ágil basado en sprints para construir EventRadar, dividiendo el proyecto en fases clave para un desarrollo eficiente y adaptable. El progreso se realizó a lo largo de 16 semanas, con cada sprint enfocado en objetivos específicos.</a:t>
            </a:r>
            <a:endParaRPr b="0" i="0" sz="1750" u="none" cap="none" strike="noStrike"/>
          </a:p>
        </p:txBody>
      </p:sp>
      <p:pic>
        <p:nvPicPr>
          <p:cNvPr descr="preencoded.png" id="224" name="Google Shape;224;p10"/>
          <p:cNvPicPr preferRelativeResize="0"/>
          <p:nvPr/>
        </p:nvPicPr>
        <p:blipFill rotWithShape="1">
          <a:blip r:embed="rId3">
            <a:alphaModFix/>
          </a:blip>
          <a:srcRect b="0" l="0" r="0" t="0"/>
          <a:stretch/>
        </p:blipFill>
        <p:spPr>
          <a:xfrm>
            <a:off x="778550" y="2713553"/>
            <a:ext cx="222409" cy="222409"/>
          </a:xfrm>
          <a:prstGeom prst="rect">
            <a:avLst/>
          </a:prstGeom>
          <a:noFill/>
          <a:ln>
            <a:noFill/>
          </a:ln>
        </p:spPr>
      </p:pic>
      <p:sp>
        <p:nvSpPr>
          <p:cNvPr id="225" name="Google Shape;225;p10"/>
          <p:cNvSpPr/>
          <p:nvPr/>
        </p:nvSpPr>
        <p:spPr>
          <a:xfrm>
            <a:off x="778550" y="3033355"/>
            <a:ext cx="6425446" cy="30480"/>
          </a:xfrm>
          <a:prstGeom prst="rect">
            <a:avLst/>
          </a:prstGeom>
          <a:solidFill>
            <a:srgbClr val="F2B42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0"/>
          <p:cNvSpPr/>
          <p:nvPr/>
        </p:nvSpPr>
        <p:spPr>
          <a:xfrm>
            <a:off x="778550" y="3205520"/>
            <a:ext cx="2697956" cy="327065"/>
          </a:xfrm>
          <a:prstGeom prst="rect">
            <a:avLst/>
          </a:prstGeom>
          <a:noFill/>
          <a:ln>
            <a:noFill/>
          </a:ln>
        </p:spPr>
        <p:txBody>
          <a:bodyPr anchorCtr="0" anchor="t" bIns="0" lIns="0" spcFirstLastPara="1" rIns="0" wrap="square" tIns="0">
            <a:noAutofit/>
          </a:bodyPr>
          <a:lstStyle/>
          <a:p>
            <a:pPr indent="0" lvl="0" marL="0" marR="0" rtl="0" algn="l">
              <a:lnSpc>
                <a:spcPct val="124390"/>
              </a:lnSpc>
              <a:spcBef>
                <a:spcPts val="0"/>
              </a:spcBef>
              <a:spcAft>
                <a:spcPts val="0"/>
              </a:spcAft>
              <a:buClr>
                <a:srgbClr val="FFFFFF"/>
              </a:buClr>
              <a:buSzPts val="2050"/>
              <a:buFont typeface="Nunito SemiBold"/>
              <a:buNone/>
            </a:pPr>
            <a:r>
              <a:rPr b="1" i="0" lang="en-US" sz="2050" u="none" cap="none" strike="noStrike">
                <a:solidFill>
                  <a:srgbClr val="FFFFFF"/>
                </a:solidFill>
                <a:latin typeface="Nunito SemiBold"/>
                <a:ea typeface="Nunito SemiBold"/>
                <a:cs typeface="Nunito SemiBold"/>
                <a:sym typeface="Nunito SemiBold"/>
              </a:rPr>
              <a:t>Sprints 0-1: Fundación</a:t>
            </a:r>
            <a:endParaRPr b="0" i="0" sz="2050" u="none" cap="none" strike="noStrike"/>
          </a:p>
        </p:txBody>
      </p:sp>
      <p:sp>
        <p:nvSpPr>
          <p:cNvPr id="227" name="Google Shape;227;p10"/>
          <p:cNvSpPr/>
          <p:nvPr/>
        </p:nvSpPr>
        <p:spPr>
          <a:xfrm>
            <a:off x="778550" y="3666053"/>
            <a:ext cx="6425446" cy="355997"/>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1" i="0" lang="en-US" sz="1750" u="none" cap="none" strike="noStrike">
                <a:solidFill>
                  <a:srgbClr val="FFFFFF"/>
                </a:solidFill>
                <a:latin typeface="PT Sans"/>
                <a:ea typeface="PT Sans"/>
                <a:cs typeface="PT Sans"/>
                <a:sym typeface="PT Sans"/>
              </a:rPr>
              <a:t>Semanas 1-3</a:t>
            </a:r>
            <a:endParaRPr b="0" i="0" sz="1750" u="none" cap="none" strike="noStrike"/>
          </a:p>
        </p:txBody>
      </p:sp>
      <p:sp>
        <p:nvSpPr>
          <p:cNvPr id="228" name="Google Shape;228;p10"/>
          <p:cNvSpPr/>
          <p:nvPr/>
        </p:nvSpPr>
        <p:spPr>
          <a:xfrm>
            <a:off x="778550" y="4155519"/>
            <a:ext cx="6425446" cy="711994"/>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Logro: Requerimientos, arquitectura y mapa interactivo con autenticación.</a:t>
            </a:r>
            <a:endParaRPr b="0" i="0" sz="1750" u="none" cap="none" strike="noStrike"/>
          </a:p>
        </p:txBody>
      </p:sp>
      <p:pic>
        <p:nvPicPr>
          <p:cNvPr descr="preencoded.png" id="229" name="Google Shape;229;p10"/>
          <p:cNvPicPr preferRelativeResize="0"/>
          <p:nvPr/>
        </p:nvPicPr>
        <p:blipFill rotWithShape="1">
          <a:blip r:embed="rId3">
            <a:alphaModFix/>
          </a:blip>
          <a:srcRect b="0" l="0" r="0" t="0"/>
          <a:stretch/>
        </p:blipFill>
        <p:spPr>
          <a:xfrm>
            <a:off x="7426404" y="2713553"/>
            <a:ext cx="222409" cy="222409"/>
          </a:xfrm>
          <a:prstGeom prst="rect">
            <a:avLst/>
          </a:prstGeom>
          <a:noFill/>
          <a:ln>
            <a:noFill/>
          </a:ln>
        </p:spPr>
      </p:pic>
      <p:sp>
        <p:nvSpPr>
          <p:cNvPr id="230" name="Google Shape;230;p10"/>
          <p:cNvSpPr/>
          <p:nvPr/>
        </p:nvSpPr>
        <p:spPr>
          <a:xfrm>
            <a:off x="7426404" y="3033355"/>
            <a:ext cx="6425446" cy="30480"/>
          </a:xfrm>
          <a:prstGeom prst="rect">
            <a:avLst/>
          </a:prstGeom>
          <a:solidFill>
            <a:srgbClr val="D742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0"/>
          <p:cNvSpPr/>
          <p:nvPr/>
        </p:nvSpPr>
        <p:spPr>
          <a:xfrm>
            <a:off x="7426404" y="3205520"/>
            <a:ext cx="4024432" cy="327065"/>
          </a:xfrm>
          <a:prstGeom prst="rect">
            <a:avLst/>
          </a:prstGeom>
          <a:noFill/>
          <a:ln>
            <a:noFill/>
          </a:ln>
        </p:spPr>
        <p:txBody>
          <a:bodyPr anchorCtr="0" anchor="t" bIns="0" lIns="0" spcFirstLastPara="1" rIns="0" wrap="square" tIns="0">
            <a:noAutofit/>
          </a:bodyPr>
          <a:lstStyle/>
          <a:p>
            <a:pPr indent="0" lvl="0" marL="0" marR="0" rtl="0" algn="l">
              <a:lnSpc>
                <a:spcPct val="124390"/>
              </a:lnSpc>
              <a:spcBef>
                <a:spcPts val="0"/>
              </a:spcBef>
              <a:spcAft>
                <a:spcPts val="0"/>
              </a:spcAft>
              <a:buClr>
                <a:srgbClr val="FFFFFF"/>
              </a:buClr>
              <a:buSzPts val="2050"/>
              <a:buFont typeface="Nunito SemiBold"/>
              <a:buNone/>
            </a:pPr>
            <a:r>
              <a:rPr b="1" i="0" lang="en-US" sz="2050" u="none" cap="none" strike="noStrike">
                <a:solidFill>
                  <a:srgbClr val="FFFFFF"/>
                </a:solidFill>
                <a:latin typeface="Nunito SemiBold"/>
                <a:ea typeface="Nunito SemiBold"/>
                <a:cs typeface="Nunito SemiBold"/>
                <a:sym typeface="Nunito SemiBold"/>
              </a:rPr>
              <a:t>Sprints 2-3: Funcionalidades Core</a:t>
            </a:r>
            <a:endParaRPr b="0" i="0" sz="2050" u="none" cap="none" strike="noStrike"/>
          </a:p>
        </p:txBody>
      </p:sp>
      <p:sp>
        <p:nvSpPr>
          <p:cNvPr id="232" name="Google Shape;232;p10"/>
          <p:cNvSpPr/>
          <p:nvPr/>
        </p:nvSpPr>
        <p:spPr>
          <a:xfrm>
            <a:off x="7426404" y="3666053"/>
            <a:ext cx="6425446" cy="355997"/>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1" i="0" lang="en-US" sz="1750" u="none" cap="none" strike="noStrike">
                <a:solidFill>
                  <a:srgbClr val="FFFFFF"/>
                </a:solidFill>
                <a:latin typeface="PT Sans"/>
                <a:ea typeface="PT Sans"/>
                <a:cs typeface="PT Sans"/>
                <a:sym typeface="PT Sans"/>
              </a:rPr>
              <a:t>Semanas 3-9</a:t>
            </a:r>
            <a:endParaRPr b="0" i="0" sz="1750" u="none" cap="none" strike="noStrike"/>
          </a:p>
        </p:txBody>
      </p:sp>
      <p:sp>
        <p:nvSpPr>
          <p:cNvPr id="233" name="Google Shape;233;p10"/>
          <p:cNvSpPr/>
          <p:nvPr/>
        </p:nvSpPr>
        <p:spPr>
          <a:xfrm>
            <a:off x="7426404" y="4155519"/>
            <a:ext cx="6425446" cy="711994"/>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Logro: CRUD de eventos, sistema de favoritos y notificaciones en tiempo real.</a:t>
            </a:r>
            <a:endParaRPr b="0" i="0" sz="1750" u="none" cap="none" strike="noStrike"/>
          </a:p>
        </p:txBody>
      </p:sp>
      <p:pic>
        <p:nvPicPr>
          <p:cNvPr descr="preencoded.png" id="234" name="Google Shape;234;p10"/>
          <p:cNvPicPr preferRelativeResize="0"/>
          <p:nvPr/>
        </p:nvPicPr>
        <p:blipFill rotWithShape="1">
          <a:blip r:embed="rId3">
            <a:alphaModFix/>
          </a:blip>
          <a:srcRect b="0" l="0" r="0" t="0"/>
          <a:stretch/>
        </p:blipFill>
        <p:spPr>
          <a:xfrm>
            <a:off x="778550" y="5284470"/>
            <a:ext cx="222409" cy="222409"/>
          </a:xfrm>
          <a:prstGeom prst="rect">
            <a:avLst/>
          </a:prstGeom>
          <a:noFill/>
          <a:ln>
            <a:noFill/>
          </a:ln>
        </p:spPr>
      </p:pic>
      <p:sp>
        <p:nvSpPr>
          <p:cNvPr id="235" name="Google Shape;235;p10"/>
          <p:cNvSpPr/>
          <p:nvPr/>
        </p:nvSpPr>
        <p:spPr>
          <a:xfrm>
            <a:off x="778550" y="5604272"/>
            <a:ext cx="6425446" cy="30480"/>
          </a:xfrm>
          <a:prstGeom prst="rect">
            <a:avLst/>
          </a:prstGeom>
          <a:solidFill>
            <a:srgbClr val="DD78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0"/>
          <p:cNvSpPr/>
          <p:nvPr/>
        </p:nvSpPr>
        <p:spPr>
          <a:xfrm>
            <a:off x="778550" y="5776436"/>
            <a:ext cx="4194453" cy="327065"/>
          </a:xfrm>
          <a:prstGeom prst="rect">
            <a:avLst/>
          </a:prstGeom>
          <a:noFill/>
          <a:ln>
            <a:noFill/>
          </a:ln>
        </p:spPr>
        <p:txBody>
          <a:bodyPr anchorCtr="0" anchor="t" bIns="0" lIns="0" spcFirstLastPara="1" rIns="0" wrap="square" tIns="0">
            <a:noAutofit/>
          </a:bodyPr>
          <a:lstStyle/>
          <a:p>
            <a:pPr indent="0" lvl="0" marL="0" marR="0" rtl="0" algn="l">
              <a:lnSpc>
                <a:spcPct val="124390"/>
              </a:lnSpc>
              <a:spcBef>
                <a:spcPts val="0"/>
              </a:spcBef>
              <a:spcAft>
                <a:spcPts val="0"/>
              </a:spcAft>
              <a:buClr>
                <a:srgbClr val="FFFFFF"/>
              </a:buClr>
              <a:buSzPts val="2050"/>
              <a:buFont typeface="Nunito SemiBold"/>
              <a:buNone/>
            </a:pPr>
            <a:r>
              <a:rPr b="1" i="0" lang="en-US" sz="2050" u="none" cap="none" strike="noStrike">
                <a:solidFill>
                  <a:srgbClr val="FFFFFF"/>
                </a:solidFill>
                <a:latin typeface="Nunito SemiBold"/>
                <a:ea typeface="Nunito SemiBold"/>
                <a:cs typeface="Nunito SemiBold"/>
                <a:sym typeface="Nunito SemiBold"/>
              </a:rPr>
              <a:t>Sprints 4-5: Experiencia de Usuario</a:t>
            </a:r>
            <a:endParaRPr b="0" i="0" sz="2050" u="none" cap="none" strike="noStrike"/>
          </a:p>
        </p:txBody>
      </p:sp>
      <p:sp>
        <p:nvSpPr>
          <p:cNvPr id="237" name="Google Shape;237;p10"/>
          <p:cNvSpPr/>
          <p:nvPr/>
        </p:nvSpPr>
        <p:spPr>
          <a:xfrm>
            <a:off x="778550" y="6236970"/>
            <a:ext cx="6425446" cy="355997"/>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1" i="0" lang="en-US" sz="1750" u="none" cap="none" strike="noStrike">
                <a:solidFill>
                  <a:srgbClr val="FFFFFF"/>
                </a:solidFill>
                <a:latin typeface="PT Sans"/>
                <a:ea typeface="PT Sans"/>
                <a:cs typeface="PT Sans"/>
                <a:sym typeface="PT Sans"/>
              </a:rPr>
              <a:t>Semanas 9-12</a:t>
            </a:r>
            <a:endParaRPr b="0" i="0" sz="1750" u="none" cap="none" strike="noStrike"/>
          </a:p>
        </p:txBody>
      </p:sp>
      <p:sp>
        <p:nvSpPr>
          <p:cNvPr id="238" name="Google Shape;238;p10"/>
          <p:cNvSpPr/>
          <p:nvPr/>
        </p:nvSpPr>
        <p:spPr>
          <a:xfrm>
            <a:off x="778550" y="6726436"/>
            <a:ext cx="6425446" cy="355997"/>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Logro: Filtros avanzados, geolocalización y función de compartir.</a:t>
            </a:r>
            <a:endParaRPr b="0" i="0" sz="1750" u="none" cap="none" strike="noStrike"/>
          </a:p>
        </p:txBody>
      </p:sp>
      <p:pic>
        <p:nvPicPr>
          <p:cNvPr descr="preencoded.png" id="239" name="Google Shape;239;p10"/>
          <p:cNvPicPr preferRelativeResize="0"/>
          <p:nvPr/>
        </p:nvPicPr>
        <p:blipFill rotWithShape="1">
          <a:blip r:embed="rId3">
            <a:alphaModFix/>
          </a:blip>
          <a:srcRect b="0" l="0" r="0" t="0"/>
          <a:stretch/>
        </p:blipFill>
        <p:spPr>
          <a:xfrm>
            <a:off x="7426404" y="5284470"/>
            <a:ext cx="222409" cy="222409"/>
          </a:xfrm>
          <a:prstGeom prst="rect">
            <a:avLst/>
          </a:prstGeom>
          <a:noFill/>
          <a:ln>
            <a:noFill/>
          </a:ln>
        </p:spPr>
      </p:pic>
      <p:sp>
        <p:nvSpPr>
          <p:cNvPr id="240" name="Google Shape;240;p10"/>
          <p:cNvSpPr/>
          <p:nvPr/>
        </p:nvSpPr>
        <p:spPr>
          <a:xfrm>
            <a:off x="7426404" y="5604272"/>
            <a:ext cx="6425446" cy="30480"/>
          </a:xfrm>
          <a:prstGeom prst="rect">
            <a:avLst/>
          </a:prstGeom>
          <a:solidFill>
            <a:srgbClr val="48A8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0"/>
          <p:cNvSpPr/>
          <p:nvPr/>
        </p:nvSpPr>
        <p:spPr>
          <a:xfrm>
            <a:off x="7426404" y="5776436"/>
            <a:ext cx="4258032" cy="327065"/>
          </a:xfrm>
          <a:prstGeom prst="rect">
            <a:avLst/>
          </a:prstGeom>
          <a:noFill/>
          <a:ln>
            <a:noFill/>
          </a:ln>
        </p:spPr>
        <p:txBody>
          <a:bodyPr anchorCtr="0" anchor="t" bIns="0" lIns="0" spcFirstLastPara="1" rIns="0" wrap="square" tIns="0">
            <a:noAutofit/>
          </a:bodyPr>
          <a:lstStyle/>
          <a:p>
            <a:pPr indent="0" lvl="0" marL="0" marR="0" rtl="0" algn="l">
              <a:lnSpc>
                <a:spcPct val="124390"/>
              </a:lnSpc>
              <a:spcBef>
                <a:spcPts val="0"/>
              </a:spcBef>
              <a:spcAft>
                <a:spcPts val="0"/>
              </a:spcAft>
              <a:buClr>
                <a:srgbClr val="FFFFFF"/>
              </a:buClr>
              <a:buSzPts val="2050"/>
              <a:buFont typeface="Nunito SemiBold"/>
              <a:buNone/>
            </a:pPr>
            <a:r>
              <a:rPr b="1" i="0" lang="en-US" sz="2050" u="none" cap="none" strike="noStrike">
                <a:solidFill>
                  <a:srgbClr val="FFFFFF"/>
                </a:solidFill>
                <a:latin typeface="Nunito SemiBold"/>
                <a:ea typeface="Nunito SemiBold"/>
                <a:cs typeface="Nunito SemiBold"/>
                <a:sym typeface="Nunito SemiBold"/>
              </a:rPr>
              <a:t>Sprints 6-7: Administración y Cierre</a:t>
            </a:r>
            <a:endParaRPr b="0" i="0" sz="2050" u="none" cap="none" strike="noStrike"/>
          </a:p>
        </p:txBody>
      </p:sp>
      <p:sp>
        <p:nvSpPr>
          <p:cNvPr id="242" name="Google Shape;242;p10"/>
          <p:cNvSpPr/>
          <p:nvPr/>
        </p:nvSpPr>
        <p:spPr>
          <a:xfrm>
            <a:off x="7426404" y="6236970"/>
            <a:ext cx="6425446" cy="355997"/>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1" i="0" lang="en-US" sz="1750" u="none" cap="none" strike="noStrike">
                <a:solidFill>
                  <a:srgbClr val="FFFFFF"/>
                </a:solidFill>
                <a:latin typeface="PT Sans"/>
                <a:ea typeface="PT Sans"/>
                <a:cs typeface="PT Sans"/>
                <a:sym typeface="PT Sans"/>
              </a:rPr>
              <a:t>Semanas 12-16</a:t>
            </a:r>
            <a:endParaRPr b="0" i="0" sz="1750" u="none" cap="none" strike="noStrike"/>
          </a:p>
        </p:txBody>
      </p:sp>
      <p:sp>
        <p:nvSpPr>
          <p:cNvPr id="243" name="Google Shape;243;p10"/>
          <p:cNvSpPr/>
          <p:nvPr/>
        </p:nvSpPr>
        <p:spPr>
          <a:xfrm>
            <a:off x="7426404" y="6726436"/>
            <a:ext cx="6425446" cy="711994"/>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Logro: Panel de administrador, pruebas funcionales y preparación de la demo final.</a:t>
            </a:r>
            <a:endParaRPr b="0" i="0" sz="1750" u="none" cap="none" strike="noStrike"/>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11"/>
          <p:cNvSpPr/>
          <p:nvPr/>
        </p:nvSpPr>
        <p:spPr>
          <a:xfrm>
            <a:off x="829270" y="651629"/>
            <a:ext cx="9681210" cy="961787"/>
          </a:xfrm>
          <a:prstGeom prst="rect">
            <a:avLst/>
          </a:prstGeom>
          <a:noFill/>
          <a:ln>
            <a:noFill/>
          </a:ln>
        </p:spPr>
        <p:txBody>
          <a:bodyPr anchorCtr="0" anchor="t" bIns="0" lIns="0" spcFirstLastPara="1" rIns="0" wrap="square" tIns="0">
            <a:noAutofit/>
          </a:bodyPr>
          <a:lstStyle/>
          <a:p>
            <a:pPr indent="0" lvl="0" marL="0" marR="0" rtl="0" algn="l">
              <a:lnSpc>
                <a:spcPct val="124793"/>
              </a:lnSpc>
              <a:spcBef>
                <a:spcPts val="0"/>
              </a:spcBef>
              <a:spcAft>
                <a:spcPts val="0"/>
              </a:spcAft>
              <a:buClr>
                <a:srgbClr val="FFFFFF"/>
              </a:buClr>
              <a:buSzPts val="6050"/>
              <a:buFont typeface="Nunito SemiBold"/>
              <a:buNone/>
            </a:pPr>
            <a:r>
              <a:rPr b="1" i="0" lang="en-US" sz="6050" u="none" cap="none" strike="noStrike">
                <a:solidFill>
                  <a:srgbClr val="FFFFFF"/>
                </a:solidFill>
                <a:latin typeface="Nunito SemiBold"/>
                <a:ea typeface="Nunito SemiBold"/>
                <a:cs typeface="Nunito SemiBold"/>
                <a:sym typeface="Nunito SemiBold"/>
              </a:rPr>
              <a:t>       Evidencias del Proyecto</a:t>
            </a:r>
            <a:endParaRPr b="0" i="0" sz="6050" u="none" cap="none" strike="noStrike"/>
          </a:p>
        </p:txBody>
      </p:sp>
      <p:sp>
        <p:nvSpPr>
          <p:cNvPr id="250" name="Google Shape;250;p11"/>
          <p:cNvSpPr/>
          <p:nvPr/>
        </p:nvSpPr>
        <p:spPr>
          <a:xfrm>
            <a:off x="829270" y="2798088"/>
            <a:ext cx="4165997" cy="236934"/>
          </a:xfrm>
          <a:prstGeom prst="roundRect">
            <a:avLst>
              <a:gd fmla="val 150021" name="adj"/>
            </a:avLst>
          </a:prstGeom>
          <a:solidFill>
            <a:srgbClr val="00002E"/>
          </a:solidFill>
          <a:ln cap="flat" cmpd="sng" w="22850">
            <a:solidFill>
              <a:srgbClr val="F2B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1066205" y="3271957"/>
            <a:ext cx="2787848" cy="348496"/>
          </a:xfrm>
          <a:prstGeom prst="rect">
            <a:avLst/>
          </a:prstGeom>
          <a:noFill/>
          <a:ln>
            <a:noFill/>
          </a:ln>
        </p:spPr>
        <p:txBody>
          <a:bodyPr anchorCtr="0" anchor="t" bIns="0" lIns="0" spcFirstLastPara="1" rIns="0" wrap="square" tIns="0">
            <a:noAutofit/>
          </a:bodyPr>
          <a:lstStyle/>
          <a:p>
            <a:pPr indent="0" lvl="0" marL="0" marR="0" rtl="0" algn="l">
              <a:lnSpc>
                <a:spcPct val="125581"/>
              </a:lnSpc>
              <a:spcBef>
                <a:spcPts val="0"/>
              </a:spcBef>
              <a:spcAft>
                <a:spcPts val="0"/>
              </a:spcAft>
              <a:buClr>
                <a:srgbClr val="FFFFFF"/>
              </a:buClr>
              <a:buSzPts val="2150"/>
              <a:buFont typeface="Nunito SemiBold"/>
              <a:buNone/>
            </a:pPr>
            <a:r>
              <a:rPr b="1" i="0" lang="en-US" sz="2150" u="none" cap="none" strike="noStrike">
                <a:solidFill>
                  <a:srgbClr val="FFFFFF"/>
                </a:solidFill>
                <a:latin typeface="Nunito SemiBold"/>
                <a:ea typeface="Nunito SemiBold"/>
                <a:cs typeface="Nunito SemiBold"/>
                <a:sym typeface="Nunito SemiBold"/>
              </a:rPr>
              <a:t>Usabilidad</a:t>
            </a:r>
            <a:endParaRPr b="0" i="0" sz="2150" u="none" cap="none" strike="noStrike"/>
          </a:p>
        </p:txBody>
      </p:sp>
      <p:sp>
        <p:nvSpPr>
          <p:cNvPr id="252" name="Google Shape;252;p11"/>
          <p:cNvSpPr/>
          <p:nvPr/>
        </p:nvSpPr>
        <p:spPr>
          <a:xfrm>
            <a:off x="1066205" y="3715226"/>
            <a:ext cx="3692128" cy="696992"/>
          </a:xfrm>
          <a:prstGeom prst="rect">
            <a:avLst/>
          </a:prstGeom>
          <a:noFill/>
          <a:ln>
            <a:noFill/>
          </a:ln>
        </p:spPr>
        <p:txBody>
          <a:bodyPr anchorCtr="0" anchor="t" bIns="0" lIns="0" spcFirstLastPara="1" rIns="0" wrap="square" tIns="0">
            <a:noAutofit/>
          </a:bodyPr>
          <a:lstStyle/>
          <a:p>
            <a:pPr indent="0" lvl="0" marL="0" marR="0" rtl="0" algn="l">
              <a:lnSpc>
                <a:spcPct val="125581"/>
              </a:lnSpc>
              <a:spcBef>
                <a:spcPts val="0"/>
              </a:spcBef>
              <a:spcAft>
                <a:spcPts val="0"/>
              </a:spcAft>
              <a:buClr>
                <a:srgbClr val="FFFFFF"/>
              </a:buClr>
              <a:buSzPts val="2150"/>
              <a:buFont typeface="Nunito SemiBold"/>
              <a:buNone/>
            </a:pPr>
            <a:r>
              <a:rPr b="1" i="0" lang="en-US" sz="2150" u="none" cap="none" strike="noStrike">
                <a:solidFill>
                  <a:srgbClr val="FFFFFF"/>
                </a:solidFill>
                <a:latin typeface="Nunito SemiBold"/>
                <a:ea typeface="Nunito SemiBold"/>
                <a:cs typeface="Nunito SemiBold"/>
                <a:sym typeface="Nunito SemiBold"/>
              </a:rPr>
              <a:t>Interfaz intuitiva y amigable para todos los usuarios.</a:t>
            </a:r>
            <a:endParaRPr b="0" i="0" sz="2150" u="none" cap="none" strike="noStrike"/>
          </a:p>
        </p:txBody>
      </p:sp>
      <p:sp>
        <p:nvSpPr>
          <p:cNvPr id="253" name="Google Shape;253;p11"/>
          <p:cNvSpPr/>
          <p:nvPr/>
        </p:nvSpPr>
        <p:spPr>
          <a:xfrm>
            <a:off x="5232202" y="2442686"/>
            <a:ext cx="4165997" cy="236934"/>
          </a:xfrm>
          <a:prstGeom prst="roundRect">
            <a:avLst>
              <a:gd fmla="val 150021" name="adj"/>
            </a:avLst>
          </a:prstGeom>
          <a:solidFill>
            <a:srgbClr val="00002E"/>
          </a:solidFill>
          <a:ln cap="flat" cmpd="sng" w="22850">
            <a:solidFill>
              <a:srgbClr val="D742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1"/>
          <p:cNvSpPr/>
          <p:nvPr/>
        </p:nvSpPr>
        <p:spPr>
          <a:xfrm>
            <a:off x="5469136" y="2916555"/>
            <a:ext cx="2787848" cy="348496"/>
          </a:xfrm>
          <a:prstGeom prst="rect">
            <a:avLst/>
          </a:prstGeom>
          <a:noFill/>
          <a:ln>
            <a:noFill/>
          </a:ln>
        </p:spPr>
        <p:txBody>
          <a:bodyPr anchorCtr="0" anchor="t" bIns="0" lIns="0" spcFirstLastPara="1" rIns="0" wrap="square" tIns="0">
            <a:noAutofit/>
          </a:bodyPr>
          <a:lstStyle/>
          <a:p>
            <a:pPr indent="0" lvl="0" marL="0" marR="0" rtl="0" algn="l">
              <a:lnSpc>
                <a:spcPct val="125581"/>
              </a:lnSpc>
              <a:spcBef>
                <a:spcPts val="0"/>
              </a:spcBef>
              <a:spcAft>
                <a:spcPts val="0"/>
              </a:spcAft>
              <a:buClr>
                <a:srgbClr val="FFFFFF"/>
              </a:buClr>
              <a:buSzPts val="2150"/>
              <a:buFont typeface="Nunito SemiBold"/>
              <a:buNone/>
            </a:pPr>
            <a:r>
              <a:rPr b="1" i="0" lang="en-US" sz="2150" u="none" cap="none" strike="noStrike">
                <a:solidFill>
                  <a:srgbClr val="FFFFFF"/>
                </a:solidFill>
                <a:latin typeface="Nunito SemiBold"/>
                <a:ea typeface="Nunito SemiBold"/>
                <a:cs typeface="Nunito SemiBold"/>
                <a:sym typeface="Nunito SemiBold"/>
              </a:rPr>
              <a:t>Compatibilidad </a:t>
            </a:r>
            <a:endParaRPr b="0" i="0" sz="2150" u="none" cap="none" strike="noStrike"/>
          </a:p>
        </p:txBody>
      </p:sp>
      <p:sp>
        <p:nvSpPr>
          <p:cNvPr id="255" name="Google Shape;255;p11"/>
          <p:cNvSpPr/>
          <p:nvPr/>
        </p:nvSpPr>
        <p:spPr>
          <a:xfrm>
            <a:off x="5469136" y="3407212"/>
            <a:ext cx="3692128" cy="758190"/>
          </a:xfrm>
          <a:prstGeom prst="rect">
            <a:avLst/>
          </a:prstGeom>
          <a:noFill/>
          <a:ln>
            <a:noFill/>
          </a:ln>
        </p:spPr>
        <p:txBody>
          <a:bodyPr anchorCtr="0" anchor="t" bIns="0" lIns="0" spcFirstLastPara="1" rIns="0" wrap="square" tIns="0">
            <a:noAutofit/>
          </a:bodyPr>
          <a:lstStyle/>
          <a:p>
            <a:pPr indent="0" lvl="0" marL="0" marR="0" rtl="0" algn="l">
              <a:lnSpc>
                <a:spcPct val="159459"/>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Totalmente operativa en Android e iOS, construida con React Native.</a:t>
            </a:r>
            <a:endParaRPr b="0" i="0" sz="1850" u="none" cap="none" strike="noStrike"/>
          </a:p>
        </p:txBody>
      </p:sp>
      <p:sp>
        <p:nvSpPr>
          <p:cNvPr id="256" name="Google Shape;256;p11"/>
          <p:cNvSpPr/>
          <p:nvPr/>
        </p:nvSpPr>
        <p:spPr>
          <a:xfrm>
            <a:off x="9635133" y="2087285"/>
            <a:ext cx="4165997" cy="236934"/>
          </a:xfrm>
          <a:prstGeom prst="roundRect">
            <a:avLst>
              <a:gd fmla="val 150021" name="adj"/>
            </a:avLst>
          </a:prstGeom>
          <a:solidFill>
            <a:srgbClr val="00002E"/>
          </a:solidFill>
          <a:ln cap="flat" cmpd="sng" w="22850">
            <a:solidFill>
              <a:srgbClr val="DD78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9872067" y="2561153"/>
            <a:ext cx="2787848" cy="348496"/>
          </a:xfrm>
          <a:prstGeom prst="rect">
            <a:avLst/>
          </a:prstGeom>
          <a:noFill/>
          <a:ln>
            <a:noFill/>
          </a:ln>
        </p:spPr>
        <p:txBody>
          <a:bodyPr anchorCtr="0" anchor="t" bIns="0" lIns="0" spcFirstLastPara="1" rIns="0" wrap="square" tIns="0">
            <a:noAutofit/>
          </a:bodyPr>
          <a:lstStyle/>
          <a:p>
            <a:pPr indent="0" lvl="0" marL="0" marR="0" rtl="0" algn="l">
              <a:lnSpc>
                <a:spcPct val="125581"/>
              </a:lnSpc>
              <a:spcBef>
                <a:spcPts val="0"/>
              </a:spcBef>
              <a:spcAft>
                <a:spcPts val="0"/>
              </a:spcAft>
              <a:buClr>
                <a:srgbClr val="FFFFFF"/>
              </a:buClr>
              <a:buSzPts val="2150"/>
              <a:buFont typeface="Nunito SemiBold"/>
              <a:buNone/>
            </a:pPr>
            <a:r>
              <a:rPr b="1" i="0" lang="en-US" sz="2150" u="none" cap="none" strike="noStrike">
                <a:solidFill>
                  <a:srgbClr val="FFFFFF"/>
                </a:solidFill>
                <a:latin typeface="Nunito SemiBold"/>
                <a:ea typeface="Nunito SemiBold"/>
                <a:cs typeface="Nunito SemiBold"/>
                <a:sym typeface="Nunito SemiBold"/>
              </a:rPr>
              <a:t>Seguridad</a:t>
            </a:r>
            <a:endParaRPr b="0" i="0" sz="2150" u="none" cap="none" strike="noStrike"/>
          </a:p>
        </p:txBody>
      </p:sp>
      <p:sp>
        <p:nvSpPr>
          <p:cNvPr id="258" name="Google Shape;258;p11"/>
          <p:cNvSpPr/>
          <p:nvPr/>
        </p:nvSpPr>
        <p:spPr>
          <a:xfrm>
            <a:off x="9872067" y="3051810"/>
            <a:ext cx="3692128" cy="758190"/>
          </a:xfrm>
          <a:prstGeom prst="rect">
            <a:avLst/>
          </a:prstGeom>
          <a:noFill/>
          <a:ln>
            <a:noFill/>
          </a:ln>
        </p:spPr>
        <p:txBody>
          <a:bodyPr anchorCtr="0" anchor="t" bIns="0" lIns="0" spcFirstLastPara="1" rIns="0" wrap="square" tIns="0">
            <a:noAutofit/>
          </a:bodyPr>
          <a:lstStyle/>
          <a:p>
            <a:pPr indent="0" lvl="0" marL="0" marR="0" rtl="0" algn="l">
              <a:lnSpc>
                <a:spcPct val="159459"/>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Protección de datos y autenticación robusta (JWT, roles).</a:t>
            </a:r>
            <a:endParaRPr b="0" i="0" sz="1850" u="none" cap="none" strike="noStrike"/>
          </a:p>
        </p:txBody>
      </p:sp>
      <p:sp>
        <p:nvSpPr>
          <p:cNvPr id="259" name="Google Shape;259;p11"/>
          <p:cNvSpPr/>
          <p:nvPr/>
        </p:nvSpPr>
        <p:spPr>
          <a:xfrm>
            <a:off x="829270" y="5596890"/>
            <a:ext cx="4165997" cy="236934"/>
          </a:xfrm>
          <a:prstGeom prst="roundRect">
            <a:avLst>
              <a:gd fmla="val 150021" name="adj"/>
            </a:avLst>
          </a:prstGeom>
          <a:solidFill>
            <a:srgbClr val="00002E"/>
          </a:solidFill>
          <a:ln cap="flat" cmpd="sng" w="22850">
            <a:solidFill>
              <a:srgbClr val="48A8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1"/>
          <p:cNvSpPr/>
          <p:nvPr/>
        </p:nvSpPr>
        <p:spPr>
          <a:xfrm>
            <a:off x="1066205" y="6070759"/>
            <a:ext cx="2787848" cy="348496"/>
          </a:xfrm>
          <a:prstGeom prst="rect">
            <a:avLst/>
          </a:prstGeom>
          <a:noFill/>
          <a:ln>
            <a:noFill/>
          </a:ln>
        </p:spPr>
        <p:txBody>
          <a:bodyPr anchorCtr="0" anchor="t" bIns="0" lIns="0" spcFirstLastPara="1" rIns="0" wrap="square" tIns="0">
            <a:noAutofit/>
          </a:bodyPr>
          <a:lstStyle/>
          <a:p>
            <a:pPr indent="0" lvl="0" marL="0" marR="0" rtl="0" algn="l">
              <a:lnSpc>
                <a:spcPct val="125581"/>
              </a:lnSpc>
              <a:spcBef>
                <a:spcPts val="0"/>
              </a:spcBef>
              <a:spcAft>
                <a:spcPts val="0"/>
              </a:spcAft>
              <a:buClr>
                <a:srgbClr val="FFFFFF"/>
              </a:buClr>
              <a:buSzPts val="2150"/>
              <a:buFont typeface="Nunito SemiBold"/>
              <a:buNone/>
            </a:pPr>
            <a:r>
              <a:rPr b="1" i="0" lang="en-US" sz="2150" u="none" cap="none" strike="noStrike">
                <a:solidFill>
                  <a:srgbClr val="FFFFFF"/>
                </a:solidFill>
                <a:latin typeface="Nunito SemiBold"/>
                <a:ea typeface="Nunito SemiBold"/>
                <a:cs typeface="Nunito SemiBold"/>
                <a:sym typeface="Nunito SemiBold"/>
              </a:rPr>
              <a:t>Confiabilidad </a:t>
            </a:r>
            <a:endParaRPr b="0" i="0" sz="2150" u="none" cap="none" strike="noStrike"/>
          </a:p>
        </p:txBody>
      </p:sp>
      <p:sp>
        <p:nvSpPr>
          <p:cNvPr id="261" name="Google Shape;261;p11"/>
          <p:cNvSpPr/>
          <p:nvPr/>
        </p:nvSpPr>
        <p:spPr>
          <a:xfrm>
            <a:off x="1066205" y="6561415"/>
            <a:ext cx="3692128" cy="758190"/>
          </a:xfrm>
          <a:prstGeom prst="rect">
            <a:avLst/>
          </a:prstGeom>
          <a:noFill/>
          <a:ln>
            <a:noFill/>
          </a:ln>
        </p:spPr>
        <p:txBody>
          <a:bodyPr anchorCtr="0" anchor="t" bIns="0" lIns="0" spcFirstLastPara="1" rIns="0" wrap="square" tIns="0">
            <a:noAutofit/>
          </a:bodyPr>
          <a:lstStyle/>
          <a:p>
            <a:pPr indent="0" lvl="0" marL="0" marR="0" rtl="0" algn="l">
              <a:lnSpc>
                <a:spcPct val="159459"/>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Acceso a información básica sin conexión a internet.</a:t>
            </a:r>
            <a:endParaRPr b="0" i="0" sz="1850" u="none" cap="none" strike="noStrike"/>
          </a:p>
        </p:txBody>
      </p:sp>
      <p:sp>
        <p:nvSpPr>
          <p:cNvPr id="262" name="Google Shape;262;p11"/>
          <p:cNvSpPr/>
          <p:nvPr/>
        </p:nvSpPr>
        <p:spPr>
          <a:xfrm>
            <a:off x="5232202" y="5241488"/>
            <a:ext cx="4165997" cy="236934"/>
          </a:xfrm>
          <a:prstGeom prst="roundRect">
            <a:avLst>
              <a:gd fmla="val 150021" name="adj"/>
            </a:avLst>
          </a:prstGeom>
          <a:solidFill>
            <a:srgbClr val="00002E"/>
          </a:solidFill>
          <a:ln cap="flat" cmpd="sng" w="22850">
            <a:solidFill>
              <a:srgbClr val="59AB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1"/>
          <p:cNvSpPr/>
          <p:nvPr/>
        </p:nvSpPr>
        <p:spPr>
          <a:xfrm>
            <a:off x="5469136" y="5715357"/>
            <a:ext cx="2787848" cy="348496"/>
          </a:xfrm>
          <a:prstGeom prst="rect">
            <a:avLst/>
          </a:prstGeom>
          <a:noFill/>
          <a:ln>
            <a:noFill/>
          </a:ln>
        </p:spPr>
        <p:txBody>
          <a:bodyPr anchorCtr="0" anchor="t" bIns="0" lIns="0" spcFirstLastPara="1" rIns="0" wrap="square" tIns="0">
            <a:noAutofit/>
          </a:bodyPr>
          <a:lstStyle/>
          <a:p>
            <a:pPr indent="0" lvl="0" marL="0" marR="0" rtl="0" algn="l">
              <a:lnSpc>
                <a:spcPct val="125581"/>
              </a:lnSpc>
              <a:spcBef>
                <a:spcPts val="0"/>
              </a:spcBef>
              <a:spcAft>
                <a:spcPts val="0"/>
              </a:spcAft>
              <a:buClr>
                <a:srgbClr val="FFFFFF"/>
              </a:buClr>
              <a:buSzPts val="2150"/>
              <a:buFont typeface="Nunito SemiBold"/>
              <a:buNone/>
            </a:pPr>
            <a:r>
              <a:rPr b="1" i="0" lang="en-US" sz="2150" u="none" cap="none" strike="noStrike">
                <a:solidFill>
                  <a:srgbClr val="FFFFFF"/>
                </a:solidFill>
                <a:latin typeface="Nunito SemiBold"/>
                <a:ea typeface="Nunito SemiBold"/>
                <a:cs typeface="Nunito SemiBold"/>
                <a:sym typeface="Nunito SemiBold"/>
              </a:rPr>
              <a:t>Escalabilidad </a:t>
            </a:r>
            <a:endParaRPr b="0" i="0" sz="2150" u="none" cap="none" strike="noStrike"/>
          </a:p>
        </p:txBody>
      </p:sp>
      <p:sp>
        <p:nvSpPr>
          <p:cNvPr id="264" name="Google Shape;264;p11"/>
          <p:cNvSpPr/>
          <p:nvPr/>
        </p:nvSpPr>
        <p:spPr>
          <a:xfrm>
            <a:off x="5469136" y="6206014"/>
            <a:ext cx="3692128" cy="1137285"/>
          </a:xfrm>
          <a:prstGeom prst="rect">
            <a:avLst/>
          </a:prstGeom>
          <a:noFill/>
          <a:ln>
            <a:noFill/>
          </a:ln>
        </p:spPr>
        <p:txBody>
          <a:bodyPr anchorCtr="0" anchor="t" bIns="0" lIns="0" spcFirstLastPara="1" rIns="0" wrap="square" tIns="0">
            <a:noAutofit/>
          </a:bodyPr>
          <a:lstStyle/>
          <a:p>
            <a:pPr indent="0" lvl="0" marL="0" marR="0" rtl="0" algn="l">
              <a:lnSpc>
                <a:spcPct val="159459"/>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Capaz de soportar crecimiento de usuarios y eventos, y fácil mantenimiento.</a:t>
            </a:r>
            <a:endParaRPr b="0" i="0" sz="1850" u="none" cap="none" strike="noStrike"/>
          </a:p>
        </p:txBody>
      </p:sp>
      <p:sp>
        <p:nvSpPr>
          <p:cNvPr id="265" name="Google Shape;265;p11"/>
          <p:cNvSpPr/>
          <p:nvPr/>
        </p:nvSpPr>
        <p:spPr>
          <a:xfrm>
            <a:off x="9635133" y="4886087"/>
            <a:ext cx="4165997" cy="236934"/>
          </a:xfrm>
          <a:prstGeom prst="roundRect">
            <a:avLst>
              <a:gd fmla="val 150021" name="adj"/>
            </a:avLst>
          </a:prstGeom>
          <a:solidFill>
            <a:srgbClr val="00002E"/>
          </a:solidFill>
          <a:ln cap="flat" cmpd="sng" w="22850">
            <a:solidFill>
              <a:srgbClr val="F2B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1"/>
          <p:cNvSpPr/>
          <p:nvPr/>
        </p:nvSpPr>
        <p:spPr>
          <a:xfrm>
            <a:off x="9872067" y="5359956"/>
            <a:ext cx="2787848" cy="348496"/>
          </a:xfrm>
          <a:prstGeom prst="rect">
            <a:avLst/>
          </a:prstGeom>
          <a:noFill/>
          <a:ln>
            <a:noFill/>
          </a:ln>
        </p:spPr>
        <p:txBody>
          <a:bodyPr anchorCtr="0" anchor="t" bIns="0" lIns="0" spcFirstLastPara="1" rIns="0" wrap="square" tIns="0">
            <a:noAutofit/>
          </a:bodyPr>
          <a:lstStyle/>
          <a:p>
            <a:pPr indent="0" lvl="0" marL="0" marR="0" rtl="0" algn="l">
              <a:lnSpc>
                <a:spcPct val="125581"/>
              </a:lnSpc>
              <a:spcBef>
                <a:spcPts val="0"/>
              </a:spcBef>
              <a:spcAft>
                <a:spcPts val="0"/>
              </a:spcAft>
              <a:buClr>
                <a:srgbClr val="FFFFFF"/>
              </a:buClr>
              <a:buSzPts val="2150"/>
              <a:buFont typeface="Nunito SemiBold"/>
              <a:buNone/>
            </a:pPr>
            <a:r>
              <a:rPr b="1" i="0" lang="en-US" sz="2150" u="none" cap="none" strike="noStrike">
                <a:solidFill>
                  <a:srgbClr val="FFFFFF"/>
                </a:solidFill>
                <a:latin typeface="Nunito SemiBold"/>
                <a:ea typeface="Nunito SemiBold"/>
                <a:cs typeface="Nunito SemiBold"/>
                <a:sym typeface="Nunito SemiBold"/>
              </a:rPr>
              <a:t>Mantenibilidad</a:t>
            </a:r>
            <a:endParaRPr b="0" i="0" sz="2150" u="none" cap="none" strike="noStrike"/>
          </a:p>
        </p:txBody>
      </p:sp>
      <p:sp>
        <p:nvSpPr>
          <p:cNvPr id="267" name="Google Shape;267;p11"/>
          <p:cNvSpPr/>
          <p:nvPr/>
        </p:nvSpPr>
        <p:spPr>
          <a:xfrm>
            <a:off x="9872067" y="5850612"/>
            <a:ext cx="3692128" cy="1137285"/>
          </a:xfrm>
          <a:prstGeom prst="rect">
            <a:avLst/>
          </a:prstGeom>
          <a:noFill/>
          <a:ln>
            <a:noFill/>
          </a:ln>
        </p:spPr>
        <p:txBody>
          <a:bodyPr anchorCtr="0" anchor="t" bIns="0" lIns="0" spcFirstLastPara="1" rIns="0" wrap="square" tIns="0">
            <a:noAutofit/>
          </a:bodyPr>
          <a:lstStyle/>
          <a:p>
            <a:pPr indent="0" lvl="0" marL="0" marR="0" rtl="0" algn="l">
              <a:lnSpc>
                <a:spcPct val="159459"/>
              </a:lnSpc>
              <a:spcBef>
                <a:spcPts val="0"/>
              </a:spcBef>
              <a:spcAft>
                <a:spcPts val="0"/>
              </a:spcAft>
              <a:buClr>
                <a:srgbClr val="FFFFFF"/>
              </a:buClr>
              <a:buSzPts val="1850"/>
              <a:buFont typeface="PT Sans"/>
              <a:buNone/>
            </a:pPr>
            <a:r>
              <a:rPr b="0" i="0" lang="en-US" sz="1850" u="none" cap="none" strike="noStrike">
                <a:solidFill>
                  <a:srgbClr val="FFFFFF"/>
                </a:solidFill>
                <a:latin typeface="PT Sans"/>
                <a:ea typeface="PT Sans"/>
                <a:cs typeface="PT Sans"/>
                <a:sym typeface="PT Sans"/>
              </a:rPr>
              <a:t>el sistema debe ser fácil de actualizar, con un código modular y documentado.</a:t>
            </a:r>
            <a:endParaRPr b="0" i="0" sz="1850" u="none" cap="none" strike="noStrike"/>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12"/>
          <p:cNvSpPr/>
          <p:nvPr/>
        </p:nvSpPr>
        <p:spPr>
          <a:xfrm>
            <a:off x="598408" y="507444"/>
            <a:ext cx="5552361" cy="693896"/>
          </a:xfrm>
          <a:prstGeom prst="rect">
            <a:avLst/>
          </a:prstGeom>
          <a:noFill/>
          <a:ln>
            <a:noFill/>
          </a:ln>
        </p:spPr>
        <p:txBody>
          <a:bodyPr anchorCtr="0" anchor="t" bIns="0" lIns="0" spcFirstLastPara="1" rIns="0" wrap="square" tIns="0">
            <a:noAutofit/>
          </a:bodyPr>
          <a:lstStyle/>
          <a:p>
            <a:pPr indent="0" lvl="0" marL="0" marR="0" rtl="0" algn="l">
              <a:lnSpc>
                <a:spcPct val="125287"/>
              </a:lnSpc>
              <a:spcBef>
                <a:spcPts val="0"/>
              </a:spcBef>
              <a:spcAft>
                <a:spcPts val="0"/>
              </a:spcAft>
              <a:buClr>
                <a:srgbClr val="FFFFFF"/>
              </a:buClr>
              <a:buSzPts val="4350"/>
              <a:buFont typeface="Nunito SemiBold"/>
              <a:buNone/>
            </a:pPr>
            <a:r>
              <a:rPr b="1" i="0" lang="en-US" sz="4350" u="none" cap="none" strike="noStrike">
                <a:solidFill>
                  <a:srgbClr val="FFFFFF"/>
                </a:solidFill>
                <a:latin typeface="Nunito SemiBold"/>
                <a:ea typeface="Nunito SemiBold"/>
                <a:cs typeface="Nunito SemiBold"/>
                <a:sym typeface="Nunito SemiBold"/>
              </a:rPr>
              <a:t>Metodología Scrum</a:t>
            </a:r>
            <a:endParaRPr b="0" i="0" sz="4350" u="none" cap="none" strike="noStrike"/>
          </a:p>
        </p:txBody>
      </p:sp>
      <p:sp>
        <p:nvSpPr>
          <p:cNvPr id="274" name="Google Shape;274;p12"/>
          <p:cNvSpPr/>
          <p:nvPr/>
        </p:nvSpPr>
        <p:spPr>
          <a:xfrm>
            <a:off x="598408" y="1457801"/>
            <a:ext cx="5075992" cy="301823"/>
          </a:xfrm>
          <a:prstGeom prst="rect">
            <a:avLst/>
          </a:prstGeom>
          <a:noFill/>
          <a:ln>
            <a:noFill/>
          </a:ln>
        </p:spPr>
        <p:txBody>
          <a:bodyPr anchorCtr="0" anchor="t" bIns="0" lIns="0" spcFirstLastPara="1" rIns="0" wrap="square" tIns="0">
            <a:noAutofit/>
          </a:bodyPr>
          <a:lstStyle/>
          <a:p>
            <a:pPr indent="0" lvl="0" marL="0" marR="0" rtl="0" algn="l">
              <a:lnSpc>
                <a:spcPct val="123684"/>
              </a:lnSpc>
              <a:spcBef>
                <a:spcPts val="0"/>
              </a:spcBef>
              <a:spcAft>
                <a:spcPts val="0"/>
              </a:spcAft>
              <a:buClr>
                <a:srgbClr val="FFFFFF"/>
              </a:buClr>
              <a:buSzPts val="1900"/>
              <a:buFont typeface="Nunito SemiBold"/>
              <a:buNone/>
            </a:pPr>
            <a:r>
              <a:rPr b="1" i="0" lang="en-US" sz="1900" u="none" cap="none" strike="noStrike">
                <a:solidFill>
                  <a:srgbClr val="FFFFFF"/>
                </a:solidFill>
                <a:latin typeface="Nunito SemiBold"/>
                <a:ea typeface="Nunito SemiBold"/>
                <a:cs typeface="Nunito SemiBold"/>
                <a:sym typeface="Nunito SemiBold"/>
              </a:rPr>
              <a:t>                                                                     Roles </a:t>
            </a:r>
            <a:endParaRPr b="0" i="0" sz="1900" u="none" cap="none" strike="noStrike"/>
          </a:p>
        </p:txBody>
      </p:sp>
      <p:pic>
        <p:nvPicPr>
          <p:cNvPr descr="preencoded.png" id="275" name="Google Shape;275;p12"/>
          <p:cNvPicPr preferRelativeResize="0"/>
          <p:nvPr/>
        </p:nvPicPr>
        <p:blipFill rotWithShape="1">
          <a:blip r:embed="rId3">
            <a:alphaModFix/>
          </a:blip>
          <a:srcRect b="0" l="0" r="0" t="0"/>
          <a:stretch/>
        </p:blipFill>
        <p:spPr>
          <a:xfrm>
            <a:off x="1205389" y="2016085"/>
            <a:ext cx="3121343" cy="3121343"/>
          </a:xfrm>
          <a:prstGeom prst="rect">
            <a:avLst/>
          </a:prstGeom>
          <a:noFill/>
          <a:ln>
            <a:noFill/>
          </a:ln>
        </p:spPr>
      </p:pic>
      <p:sp>
        <p:nvSpPr>
          <p:cNvPr id="276" name="Google Shape;276;p12"/>
          <p:cNvSpPr/>
          <p:nvPr/>
        </p:nvSpPr>
        <p:spPr>
          <a:xfrm>
            <a:off x="1760220" y="5351145"/>
            <a:ext cx="2011680" cy="251460"/>
          </a:xfrm>
          <a:prstGeom prst="rect">
            <a:avLst/>
          </a:prstGeom>
          <a:noFill/>
          <a:ln>
            <a:noFill/>
          </a:ln>
        </p:spPr>
        <p:txBody>
          <a:bodyPr anchorCtr="0" anchor="t" bIns="0" lIns="0" spcFirstLastPara="1" rIns="0" wrap="square" tIns="0">
            <a:noAutofit/>
          </a:bodyPr>
          <a:lstStyle/>
          <a:p>
            <a:pPr indent="0" lvl="0" marL="0" marR="0" rtl="0" algn="ctr">
              <a:lnSpc>
                <a:spcPct val="125806"/>
              </a:lnSpc>
              <a:spcBef>
                <a:spcPts val="0"/>
              </a:spcBef>
              <a:spcAft>
                <a:spcPts val="0"/>
              </a:spcAft>
              <a:buClr>
                <a:srgbClr val="FFFFFF"/>
              </a:buClr>
              <a:buSzPts val="1550"/>
              <a:buFont typeface="Nunito SemiBold"/>
              <a:buNone/>
            </a:pPr>
            <a:r>
              <a:rPr b="1" i="0" lang="en-US" sz="1550" u="none" cap="none" strike="noStrike">
                <a:solidFill>
                  <a:srgbClr val="FFFFFF"/>
                </a:solidFill>
                <a:latin typeface="Nunito SemiBold"/>
                <a:ea typeface="Nunito SemiBold"/>
                <a:cs typeface="Nunito SemiBold"/>
                <a:sym typeface="Nunito SemiBold"/>
              </a:rPr>
              <a:t>Ivan Diaz</a:t>
            </a:r>
            <a:endParaRPr b="0" i="0" sz="1550" u="none" cap="none" strike="noStrike"/>
          </a:p>
        </p:txBody>
      </p:sp>
      <p:sp>
        <p:nvSpPr>
          <p:cNvPr id="277" name="Google Shape;277;p12"/>
          <p:cNvSpPr/>
          <p:nvPr/>
        </p:nvSpPr>
        <p:spPr>
          <a:xfrm>
            <a:off x="598408" y="5705118"/>
            <a:ext cx="4335304" cy="273487"/>
          </a:xfrm>
          <a:prstGeom prst="rect">
            <a:avLst/>
          </a:prstGeom>
          <a:noFill/>
          <a:ln>
            <a:noFill/>
          </a:ln>
        </p:spPr>
        <p:txBody>
          <a:bodyPr anchorCtr="0" anchor="t" bIns="0" lIns="0" spcFirstLastPara="1" rIns="0" wrap="square" tIns="0">
            <a:noAutofit/>
          </a:bodyPr>
          <a:lstStyle/>
          <a:p>
            <a:pPr indent="0" lvl="0" marL="0" marR="0" rtl="0" algn="ctr">
              <a:lnSpc>
                <a:spcPct val="165384"/>
              </a:lnSpc>
              <a:spcBef>
                <a:spcPts val="0"/>
              </a:spcBef>
              <a:spcAft>
                <a:spcPts val="0"/>
              </a:spcAft>
              <a:buClr>
                <a:srgbClr val="FFFFFF"/>
              </a:buClr>
              <a:buSzPts val="1300"/>
              <a:buFont typeface="PT Sans"/>
              <a:buNone/>
            </a:pPr>
            <a:r>
              <a:rPr b="0" i="0" lang="en-US" sz="1300" u="none" cap="none" strike="noStrike">
                <a:solidFill>
                  <a:srgbClr val="FFFFFF"/>
                </a:solidFill>
                <a:latin typeface="PT Sans"/>
                <a:ea typeface="PT Sans"/>
                <a:cs typeface="PT Sans"/>
                <a:sym typeface="PT Sans"/>
              </a:rPr>
              <a:t>Product Owner</a:t>
            </a:r>
            <a:endParaRPr b="0" i="0" sz="1300" u="none" cap="none" strike="noStrike"/>
          </a:p>
        </p:txBody>
      </p:sp>
      <p:sp>
        <p:nvSpPr>
          <p:cNvPr id="278" name="Google Shape;278;p12"/>
          <p:cNvSpPr/>
          <p:nvPr/>
        </p:nvSpPr>
        <p:spPr>
          <a:xfrm>
            <a:off x="598408" y="6081117"/>
            <a:ext cx="4335304" cy="1640919"/>
          </a:xfrm>
          <a:prstGeom prst="rect">
            <a:avLst/>
          </a:prstGeom>
          <a:noFill/>
          <a:ln>
            <a:noFill/>
          </a:ln>
        </p:spPr>
        <p:txBody>
          <a:bodyPr anchorCtr="0" anchor="t" bIns="0" lIns="0" spcFirstLastPara="1" rIns="0" wrap="square" tIns="0">
            <a:noAutofit/>
          </a:bodyPr>
          <a:lstStyle/>
          <a:p>
            <a:pPr indent="0" lvl="0" marL="0" marR="0" rtl="0" algn="ctr">
              <a:lnSpc>
                <a:spcPct val="165384"/>
              </a:lnSpc>
              <a:spcBef>
                <a:spcPts val="0"/>
              </a:spcBef>
              <a:spcAft>
                <a:spcPts val="0"/>
              </a:spcAft>
              <a:buClr>
                <a:srgbClr val="FFFFFF"/>
              </a:buClr>
              <a:buSzPts val="1300"/>
              <a:buFont typeface="PT Sans"/>
              <a:buNone/>
            </a:pPr>
            <a:r>
              <a:rPr b="1" i="0" lang="en-US" sz="1300" u="none" cap="none" strike="noStrike">
                <a:solidFill>
                  <a:srgbClr val="FFFFFF"/>
                </a:solidFill>
                <a:latin typeface="PT Sans"/>
                <a:ea typeface="PT Sans"/>
                <a:cs typeface="PT Sans"/>
                <a:sym typeface="PT Sans"/>
              </a:rPr>
              <a:t>Encargado de representar la voz del cliente y de definir las prioridades del proyecto. Su rol principal es gestionar el Product Backlog, asegurando que el equipo trabaje en las funcionalidades que más valor aportan. Se encarga de comunicar la visión del producto y validar que los entregables cumplan con los objetivos</a:t>
            </a:r>
            <a:endParaRPr b="0" i="0" sz="1300" u="none" cap="none" strike="noStrike"/>
          </a:p>
        </p:txBody>
      </p:sp>
      <p:pic>
        <p:nvPicPr>
          <p:cNvPr descr="preencoded.png" id="279" name="Google Shape;279;p12"/>
          <p:cNvPicPr preferRelativeResize="0"/>
          <p:nvPr/>
        </p:nvPicPr>
        <p:blipFill rotWithShape="1">
          <a:blip r:embed="rId4">
            <a:alphaModFix/>
          </a:blip>
          <a:srcRect b="0" l="0" r="0" t="0"/>
          <a:stretch/>
        </p:blipFill>
        <p:spPr>
          <a:xfrm>
            <a:off x="5754410" y="2016085"/>
            <a:ext cx="3121462" cy="3121462"/>
          </a:xfrm>
          <a:prstGeom prst="rect">
            <a:avLst/>
          </a:prstGeom>
          <a:noFill/>
          <a:ln>
            <a:noFill/>
          </a:ln>
        </p:spPr>
      </p:pic>
      <p:sp>
        <p:nvSpPr>
          <p:cNvPr id="280" name="Google Shape;280;p12"/>
          <p:cNvSpPr/>
          <p:nvPr/>
        </p:nvSpPr>
        <p:spPr>
          <a:xfrm>
            <a:off x="6309241" y="5351264"/>
            <a:ext cx="2011680" cy="251460"/>
          </a:xfrm>
          <a:prstGeom prst="rect">
            <a:avLst/>
          </a:prstGeom>
          <a:noFill/>
          <a:ln>
            <a:noFill/>
          </a:ln>
        </p:spPr>
        <p:txBody>
          <a:bodyPr anchorCtr="0" anchor="t" bIns="0" lIns="0" spcFirstLastPara="1" rIns="0" wrap="square" tIns="0">
            <a:noAutofit/>
          </a:bodyPr>
          <a:lstStyle/>
          <a:p>
            <a:pPr indent="0" lvl="0" marL="0" marR="0" rtl="0" algn="ctr">
              <a:lnSpc>
                <a:spcPct val="125806"/>
              </a:lnSpc>
              <a:spcBef>
                <a:spcPts val="0"/>
              </a:spcBef>
              <a:spcAft>
                <a:spcPts val="0"/>
              </a:spcAft>
              <a:buClr>
                <a:srgbClr val="FFFFFF"/>
              </a:buClr>
              <a:buSzPts val="1550"/>
              <a:buFont typeface="Nunito SemiBold"/>
              <a:buNone/>
            </a:pPr>
            <a:r>
              <a:rPr b="1" i="0" lang="en-US" sz="1550" u="none" cap="none" strike="noStrike">
                <a:solidFill>
                  <a:srgbClr val="FFFFFF"/>
                </a:solidFill>
                <a:latin typeface="Nunito SemiBold"/>
                <a:ea typeface="Nunito SemiBold"/>
                <a:cs typeface="Nunito SemiBold"/>
                <a:sym typeface="Nunito SemiBold"/>
              </a:rPr>
              <a:t>Diego Valenzuela</a:t>
            </a:r>
            <a:endParaRPr b="0" i="0" sz="1550" u="none" cap="none" strike="noStrike"/>
          </a:p>
        </p:txBody>
      </p:sp>
      <p:sp>
        <p:nvSpPr>
          <p:cNvPr id="281" name="Google Shape;281;p12"/>
          <p:cNvSpPr/>
          <p:nvPr/>
        </p:nvSpPr>
        <p:spPr>
          <a:xfrm>
            <a:off x="5147429" y="5705237"/>
            <a:ext cx="4335423" cy="273487"/>
          </a:xfrm>
          <a:prstGeom prst="rect">
            <a:avLst/>
          </a:prstGeom>
          <a:noFill/>
          <a:ln>
            <a:noFill/>
          </a:ln>
        </p:spPr>
        <p:txBody>
          <a:bodyPr anchorCtr="0" anchor="t" bIns="0" lIns="0" spcFirstLastPara="1" rIns="0" wrap="square" tIns="0">
            <a:noAutofit/>
          </a:bodyPr>
          <a:lstStyle/>
          <a:p>
            <a:pPr indent="0" lvl="0" marL="0" marR="0" rtl="0" algn="ctr">
              <a:lnSpc>
                <a:spcPct val="165384"/>
              </a:lnSpc>
              <a:spcBef>
                <a:spcPts val="0"/>
              </a:spcBef>
              <a:spcAft>
                <a:spcPts val="0"/>
              </a:spcAft>
              <a:buClr>
                <a:srgbClr val="FFFFFF"/>
              </a:buClr>
              <a:buSzPts val="1300"/>
              <a:buFont typeface="PT Sans"/>
              <a:buNone/>
            </a:pPr>
            <a:r>
              <a:rPr b="0" i="0" lang="en-US" sz="1300" u="none" cap="none" strike="noStrike">
                <a:solidFill>
                  <a:srgbClr val="FFFFFF"/>
                </a:solidFill>
                <a:latin typeface="PT Sans"/>
                <a:ea typeface="PT Sans"/>
                <a:cs typeface="PT Sans"/>
                <a:sym typeface="PT Sans"/>
              </a:rPr>
              <a:t>Scrum Master</a:t>
            </a:r>
            <a:endParaRPr b="0" i="0" sz="1300" u="none" cap="none" strike="noStrike"/>
          </a:p>
        </p:txBody>
      </p:sp>
      <p:sp>
        <p:nvSpPr>
          <p:cNvPr id="282" name="Google Shape;282;p12"/>
          <p:cNvSpPr/>
          <p:nvPr/>
        </p:nvSpPr>
        <p:spPr>
          <a:xfrm>
            <a:off x="5147429" y="6081236"/>
            <a:ext cx="4335423" cy="1367433"/>
          </a:xfrm>
          <a:prstGeom prst="rect">
            <a:avLst/>
          </a:prstGeom>
          <a:noFill/>
          <a:ln>
            <a:noFill/>
          </a:ln>
        </p:spPr>
        <p:txBody>
          <a:bodyPr anchorCtr="0" anchor="t" bIns="0" lIns="0" spcFirstLastPara="1" rIns="0" wrap="square" tIns="0">
            <a:noAutofit/>
          </a:bodyPr>
          <a:lstStyle/>
          <a:p>
            <a:pPr indent="0" lvl="0" marL="0" marR="0" rtl="0" algn="ctr">
              <a:lnSpc>
                <a:spcPct val="165384"/>
              </a:lnSpc>
              <a:spcBef>
                <a:spcPts val="0"/>
              </a:spcBef>
              <a:spcAft>
                <a:spcPts val="0"/>
              </a:spcAft>
              <a:buClr>
                <a:srgbClr val="FFFFFF"/>
              </a:buClr>
              <a:buSzPts val="1300"/>
              <a:buFont typeface="PT Sans"/>
              <a:buNone/>
            </a:pPr>
            <a:r>
              <a:rPr b="1" i="0" lang="en-US" sz="1300" u="none" cap="none" strike="noStrike">
                <a:solidFill>
                  <a:srgbClr val="FFFFFF"/>
                </a:solidFill>
                <a:latin typeface="PT Sans"/>
                <a:ea typeface="PT Sans"/>
                <a:cs typeface="PT Sans"/>
                <a:sym typeface="PT Sans"/>
              </a:rPr>
              <a:t>Facilita la aplicación de la metodología Scrum dentro del equipo. Su función es eliminar obstáculos, asegurar que se respeten las prácticas ágiles y motivar al equipo de desarrollo para que alcance sus metas. También fomenta la comunicación y la mejora continua en cada sprint.</a:t>
            </a:r>
            <a:endParaRPr b="0" i="0" sz="1300" u="none" cap="none" strike="noStrike"/>
          </a:p>
        </p:txBody>
      </p:sp>
      <p:pic>
        <p:nvPicPr>
          <p:cNvPr descr="preencoded.png" id="283" name="Google Shape;283;p12"/>
          <p:cNvPicPr preferRelativeResize="0"/>
          <p:nvPr/>
        </p:nvPicPr>
        <p:blipFill rotWithShape="1">
          <a:blip r:embed="rId5">
            <a:alphaModFix/>
          </a:blip>
          <a:srcRect b="0" l="0" r="0" t="0"/>
          <a:stretch/>
        </p:blipFill>
        <p:spPr>
          <a:xfrm>
            <a:off x="10303550" y="2016085"/>
            <a:ext cx="3121343" cy="3121343"/>
          </a:xfrm>
          <a:prstGeom prst="rect">
            <a:avLst/>
          </a:prstGeom>
          <a:noFill/>
          <a:ln>
            <a:noFill/>
          </a:ln>
        </p:spPr>
      </p:pic>
      <p:sp>
        <p:nvSpPr>
          <p:cNvPr id="284" name="Google Shape;284;p12"/>
          <p:cNvSpPr/>
          <p:nvPr/>
        </p:nvSpPr>
        <p:spPr>
          <a:xfrm>
            <a:off x="10858381" y="5351145"/>
            <a:ext cx="2011680" cy="251460"/>
          </a:xfrm>
          <a:prstGeom prst="rect">
            <a:avLst/>
          </a:prstGeom>
          <a:noFill/>
          <a:ln>
            <a:noFill/>
          </a:ln>
        </p:spPr>
        <p:txBody>
          <a:bodyPr anchorCtr="0" anchor="t" bIns="0" lIns="0" spcFirstLastPara="1" rIns="0" wrap="square" tIns="0">
            <a:noAutofit/>
          </a:bodyPr>
          <a:lstStyle/>
          <a:p>
            <a:pPr indent="0" lvl="0" marL="0" marR="0" rtl="0" algn="ctr">
              <a:lnSpc>
                <a:spcPct val="125806"/>
              </a:lnSpc>
              <a:spcBef>
                <a:spcPts val="0"/>
              </a:spcBef>
              <a:spcAft>
                <a:spcPts val="0"/>
              </a:spcAft>
              <a:buClr>
                <a:srgbClr val="FFFFFF"/>
              </a:buClr>
              <a:buSzPts val="1550"/>
              <a:buFont typeface="Nunito SemiBold"/>
              <a:buNone/>
            </a:pPr>
            <a:r>
              <a:rPr b="1" i="0" lang="en-US" sz="1550" u="none" cap="none" strike="noStrike">
                <a:solidFill>
                  <a:srgbClr val="FFFFFF"/>
                </a:solidFill>
                <a:latin typeface="Nunito SemiBold"/>
                <a:ea typeface="Nunito SemiBold"/>
                <a:cs typeface="Nunito SemiBold"/>
                <a:sym typeface="Nunito SemiBold"/>
              </a:rPr>
              <a:t>Alejandro Troncoso</a:t>
            </a:r>
            <a:endParaRPr b="0" i="0" sz="1550" u="none" cap="none" strike="noStrike"/>
          </a:p>
        </p:txBody>
      </p:sp>
      <p:sp>
        <p:nvSpPr>
          <p:cNvPr id="285" name="Google Shape;285;p12"/>
          <p:cNvSpPr/>
          <p:nvPr/>
        </p:nvSpPr>
        <p:spPr>
          <a:xfrm>
            <a:off x="10858381" y="5670947"/>
            <a:ext cx="2011680" cy="251460"/>
          </a:xfrm>
          <a:prstGeom prst="rect">
            <a:avLst/>
          </a:prstGeom>
          <a:noFill/>
          <a:ln>
            <a:noFill/>
          </a:ln>
        </p:spPr>
        <p:txBody>
          <a:bodyPr anchorCtr="0" anchor="t" bIns="0" lIns="0" spcFirstLastPara="1" rIns="0" wrap="square" tIns="0">
            <a:noAutofit/>
          </a:bodyPr>
          <a:lstStyle/>
          <a:p>
            <a:pPr indent="0" lvl="0" marL="0" marR="0" rtl="0" algn="ctr">
              <a:lnSpc>
                <a:spcPct val="125806"/>
              </a:lnSpc>
              <a:spcBef>
                <a:spcPts val="0"/>
              </a:spcBef>
              <a:spcAft>
                <a:spcPts val="0"/>
              </a:spcAft>
              <a:buClr>
                <a:srgbClr val="FFFFFF"/>
              </a:buClr>
              <a:buSzPts val="1550"/>
              <a:buFont typeface="Nunito SemiBold"/>
              <a:buNone/>
            </a:pPr>
            <a:r>
              <a:rPr b="1" i="0" lang="en-US" sz="1550" u="none" cap="none" strike="noStrike">
                <a:solidFill>
                  <a:srgbClr val="FFFFFF"/>
                </a:solidFill>
                <a:latin typeface="Nunito SemiBold"/>
                <a:ea typeface="Nunito SemiBold"/>
                <a:cs typeface="Nunito SemiBold"/>
                <a:sym typeface="Nunito SemiBold"/>
              </a:rPr>
              <a:t>Equipo de Desarrollo</a:t>
            </a:r>
            <a:endParaRPr b="0" i="0" sz="1550" u="none" cap="none" strike="noStrike"/>
          </a:p>
        </p:txBody>
      </p:sp>
      <p:sp>
        <p:nvSpPr>
          <p:cNvPr id="286" name="Google Shape;286;p12"/>
          <p:cNvSpPr/>
          <p:nvPr/>
        </p:nvSpPr>
        <p:spPr>
          <a:xfrm>
            <a:off x="9696569" y="6024920"/>
            <a:ext cx="4335304" cy="1367433"/>
          </a:xfrm>
          <a:prstGeom prst="rect">
            <a:avLst/>
          </a:prstGeom>
          <a:noFill/>
          <a:ln>
            <a:noFill/>
          </a:ln>
        </p:spPr>
        <p:txBody>
          <a:bodyPr anchorCtr="0" anchor="t" bIns="0" lIns="0" spcFirstLastPara="1" rIns="0" wrap="square" tIns="0">
            <a:noAutofit/>
          </a:bodyPr>
          <a:lstStyle/>
          <a:p>
            <a:pPr indent="0" lvl="0" marL="0" marR="0" rtl="0" algn="ctr">
              <a:lnSpc>
                <a:spcPct val="165384"/>
              </a:lnSpc>
              <a:spcBef>
                <a:spcPts val="0"/>
              </a:spcBef>
              <a:spcAft>
                <a:spcPts val="0"/>
              </a:spcAft>
              <a:buClr>
                <a:srgbClr val="FFFFFF"/>
              </a:buClr>
              <a:buSzPts val="1300"/>
              <a:buFont typeface="PT Sans"/>
              <a:buNone/>
            </a:pPr>
            <a:r>
              <a:rPr b="1" i="0" lang="en-US" sz="1300" u="none" cap="none" strike="noStrike">
                <a:solidFill>
                  <a:srgbClr val="FFFFFF"/>
                </a:solidFill>
                <a:latin typeface="PT Sans"/>
                <a:ea typeface="PT Sans"/>
                <a:cs typeface="PT Sans"/>
                <a:sym typeface="PT Sans"/>
              </a:rPr>
              <a:t>Responsable de construir el producto o solución. Se encarga de diseñar, programar, probar e integrar las funcionalidades planificadas en cada sprint. Trabaja de manera colaborativa, autogestionada y con foco en entregar incrementos de valor al final de cada iteración.</a:t>
            </a:r>
            <a:endParaRPr b="0" i="0" sz="1300" u="none" cap="none" strike="noStrike"/>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13"/>
          <p:cNvSpPr/>
          <p:nvPr/>
        </p:nvSpPr>
        <p:spPr>
          <a:xfrm>
            <a:off x="610314" y="479465"/>
            <a:ext cx="6297930" cy="707827"/>
          </a:xfrm>
          <a:prstGeom prst="rect">
            <a:avLst/>
          </a:prstGeom>
          <a:noFill/>
          <a:ln>
            <a:noFill/>
          </a:ln>
        </p:spPr>
        <p:txBody>
          <a:bodyPr anchorCtr="0" anchor="t" bIns="0" lIns="0" spcFirstLastPara="1" rIns="0" wrap="square" tIns="0">
            <a:noAutofit/>
          </a:bodyPr>
          <a:lstStyle/>
          <a:p>
            <a:pPr indent="0" lvl="0" marL="0" marR="0" rtl="0" algn="l">
              <a:lnSpc>
                <a:spcPct val="124719"/>
              </a:lnSpc>
              <a:spcBef>
                <a:spcPts val="0"/>
              </a:spcBef>
              <a:spcAft>
                <a:spcPts val="0"/>
              </a:spcAft>
              <a:buClr>
                <a:srgbClr val="FFFFFF"/>
              </a:buClr>
              <a:buSzPts val="4450"/>
              <a:buFont typeface="Nunito SemiBold"/>
              <a:buNone/>
            </a:pPr>
            <a:r>
              <a:rPr b="1" i="0" lang="en-US" sz="4450" u="none" cap="none" strike="noStrike">
                <a:solidFill>
                  <a:srgbClr val="FFFFFF"/>
                </a:solidFill>
                <a:latin typeface="Nunito SemiBold"/>
                <a:ea typeface="Nunito SemiBold"/>
                <a:cs typeface="Nunito SemiBold"/>
                <a:sym typeface="Nunito SemiBold"/>
              </a:rPr>
              <a:t>                      Carta Gantt</a:t>
            </a:r>
            <a:endParaRPr b="0" i="0" sz="4450" u="none" cap="none" strike="noStrike"/>
          </a:p>
        </p:txBody>
      </p:sp>
      <p:pic>
        <p:nvPicPr>
          <p:cNvPr descr="preencoded.png" id="293" name="Google Shape;293;p13"/>
          <p:cNvPicPr preferRelativeResize="0"/>
          <p:nvPr/>
        </p:nvPicPr>
        <p:blipFill rotWithShape="1">
          <a:blip r:embed="rId3">
            <a:alphaModFix/>
          </a:blip>
          <a:srcRect b="0" l="0" r="0" t="0"/>
          <a:stretch/>
        </p:blipFill>
        <p:spPr>
          <a:xfrm>
            <a:off x="610314" y="1536025"/>
            <a:ext cx="13409771" cy="760821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14"/>
          <p:cNvSpPr/>
          <p:nvPr/>
        </p:nvSpPr>
        <p:spPr>
          <a:xfrm>
            <a:off x="779264" y="686872"/>
            <a:ext cx="6258758" cy="654963"/>
          </a:xfrm>
          <a:prstGeom prst="rect">
            <a:avLst/>
          </a:prstGeom>
          <a:noFill/>
          <a:ln>
            <a:noFill/>
          </a:ln>
        </p:spPr>
        <p:txBody>
          <a:bodyPr anchorCtr="0" anchor="t" bIns="0" lIns="0" spcFirstLastPara="1" rIns="0" wrap="square" tIns="0">
            <a:noAutofit/>
          </a:bodyPr>
          <a:lstStyle/>
          <a:p>
            <a:pPr indent="0" lvl="0" marL="0" marR="0" rtl="0" algn="l">
              <a:lnSpc>
                <a:spcPct val="125609"/>
              </a:lnSpc>
              <a:spcBef>
                <a:spcPts val="0"/>
              </a:spcBef>
              <a:spcAft>
                <a:spcPts val="0"/>
              </a:spcAft>
              <a:buClr>
                <a:srgbClr val="FFFFFF"/>
              </a:buClr>
              <a:buSzPts val="4100"/>
              <a:buFont typeface="Nunito SemiBold"/>
              <a:buNone/>
            </a:pPr>
            <a:r>
              <a:rPr b="1" i="0" lang="en-US" sz="4100" u="none" cap="none" strike="noStrike">
                <a:solidFill>
                  <a:srgbClr val="FFFFFF"/>
                </a:solidFill>
                <a:latin typeface="Nunito SemiBold"/>
                <a:ea typeface="Nunito SemiBold"/>
                <a:cs typeface="Nunito SemiBold"/>
                <a:sym typeface="Nunito SemiBold"/>
              </a:rPr>
              <a:t>Conclusión y Aprendizajes</a:t>
            </a:r>
            <a:endParaRPr b="0" i="0" sz="4100" u="none" cap="none" strike="noStrike"/>
          </a:p>
        </p:txBody>
      </p:sp>
      <p:pic>
        <p:nvPicPr>
          <p:cNvPr descr="preencoded.png" id="300" name="Google Shape;300;p14"/>
          <p:cNvPicPr preferRelativeResize="0"/>
          <p:nvPr/>
        </p:nvPicPr>
        <p:blipFill rotWithShape="1">
          <a:blip r:embed="rId3">
            <a:alphaModFix/>
          </a:blip>
          <a:srcRect b="0" l="0" r="0" t="0"/>
          <a:stretch/>
        </p:blipFill>
        <p:spPr>
          <a:xfrm>
            <a:off x="779264" y="1787128"/>
            <a:ext cx="4171712" cy="2578298"/>
          </a:xfrm>
          <a:prstGeom prst="rect">
            <a:avLst/>
          </a:prstGeom>
          <a:noFill/>
          <a:ln>
            <a:noFill/>
          </a:ln>
        </p:spPr>
      </p:pic>
      <p:sp>
        <p:nvSpPr>
          <p:cNvPr id="301" name="Google Shape;301;p14"/>
          <p:cNvSpPr/>
          <p:nvPr/>
        </p:nvSpPr>
        <p:spPr>
          <a:xfrm>
            <a:off x="779264" y="4588073"/>
            <a:ext cx="2619732" cy="327422"/>
          </a:xfrm>
          <a:prstGeom prst="rect">
            <a:avLst/>
          </a:prstGeom>
          <a:noFill/>
          <a:ln>
            <a:noFill/>
          </a:ln>
        </p:spPr>
        <p:txBody>
          <a:bodyPr anchorCtr="0" anchor="t" bIns="0" lIns="0" spcFirstLastPara="1" rIns="0" wrap="square" tIns="0">
            <a:noAutofit/>
          </a:bodyPr>
          <a:lstStyle/>
          <a:p>
            <a:pPr indent="0" lvl="0" marL="0" marR="0" rtl="0" algn="l">
              <a:lnSpc>
                <a:spcPct val="124390"/>
              </a:lnSpc>
              <a:spcBef>
                <a:spcPts val="0"/>
              </a:spcBef>
              <a:spcAft>
                <a:spcPts val="0"/>
              </a:spcAft>
              <a:buClr>
                <a:srgbClr val="FFFFFF"/>
              </a:buClr>
              <a:buSzPts val="2050"/>
              <a:buFont typeface="Nunito SemiBold"/>
              <a:buNone/>
            </a:pPr>
            <a:r>
              <a:rPr b="1" i="0" lang="en-US" sz="2050" u="none" cap="none" strike="noStrike">
                <a:solidFill>
                  <a:srgbClr val="FFFFFF"/>
                </a:solidFill>
                <a:latin typeface="Nunito SemiBold"/>
                <a:ea typeface="Nunito SemiBold"/>
                <a:cs typeface="Nunito SemiBold"/>
                <a:sym typeface="Nunito SemiBold"/>
              </a:rPr>
              <a:t>Iván Diaz</a:t>
            </a:r>
            <a:endParaRPr b="0" i="0" sz="2050" u="none" cap="none" strike="noStrike"/>
          </a:p>
        </p:txBody>
      </p:sp>
      <p:sp>
        <p:nvSpPr>
          <p:cNvPr id="302" name="Google Shape;302;p14"/>
          <p:cNvSpPr/>
          <p:nvPr/>
        </p:nvSpPr>
        <p:spPr>
          <a:xfrm>
            <a:off x="779264" y="5049083"/>
            <a:ext cx="4171712" cy="213741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"Diseñar la interfaz y el mapa interactivo con Leaflet fue un reto apasionante. Me permitió aplicar mis habilidades de UI/UX para crear una experiencia de usuario fluida y atractiva, que es el corazón de EventRadar."</a:t>
            </a:r>
            <a:endParaRPr b="0" i="0" sz="1750" u="none" cap="none" strike="noStrike"/>
          </a:p>
        </p:txBody>
      </p:sp>
      <p:pic>
        <p:nvPicPr>
          <p:cNvPr descr="preencoded.png" id="303" name="Google Shape;303;p14"/>
          <p:cNvPicPr preferRelativeResize="0"/>
          <p:nvPr/>
        </p:nvPicPr>
        <p:blipFill rotWithShape="1">
          <a:blip r:embed="rId4">
            <a:alphaModFix/>
          </a:blip>
          <a:srcRect b="0" l="0" r="0" t="0"/>
          <a:stretch/>
        </p:blipFill>
        <p:spPr>
          <a:xfrm>
            <a:off x="5229225" y="1787128"/>
            <a:ext cx="4171831" cy="2578298"/>
          </a:xfrm>
          <a:prstGeom prst="rect">
            <a:avLst/>
          </a:prstGeom>
          <a:noFill/>
          <a:ln>
            <a:noFill/>
          </a:ln>
        </p:spPr>
      </p:pic>
      <p:sp>
        <p:nvSpPr>
          <p:cNvPr id="304" name="Google Shape;304;p14"/>
          <p:cNvSpPr/>
          <p:nvPr/>
        </p:nvSpPr>
        <p:spPr>
          <a:xfrm>
            <a:off x="5229225" y="4588073"/>
            <a:ext cx="2619732" cy="327422"/>
          </a:xfrm>
          <a:prstGeom prst="rect">
            <a:avLst/>
          </a:prstGeom>
          <a:noFill/>
          <a:ln>
            <a:noFill/>
          </a:ln>
        </p:spPr>
        <p:txBody>
          <a:bodyPr anchorCtr="0" anchor="t" bIns="0" lIns="0" spcFirstLastPara="1" rIns="0" wrap="square" tIns="0">
            <a:noAutofit/>
          </a:bodyPr>
          <a:lstStyle/>
          <a:p>
            <a:pPr indent="0" lvl="0" marL="0" marR="0" rtl="0" algn="l">
              <a:lnSpc>
                <a:spcPct val="124390"/>
              </a:lnSpc>
              <a:spcBef>
                <a:spcPts val="0"/>
              </a:spcBef>
              <a:spcAft>
                <a:spcPts val="0"/>
              </a:spcAft>
              <a:buClr>
                <a:srgbClr val="FFFFFF"/>
              </a:buClr>
              <a:buSzPts val="2050"/>
              <a:buFont typeface="Nunito SemiBold"/>
              <a:buNone/>
            </a:pPr>
            <a:r>
              <a:rPr b="1" i="0" lang="en-US" sz="2050" u="none" cap="none" strike="noStrike">
                <a:solidFill>
                  <a:srgbClr val="FFFFFF"/>
                </a:solidFill>
                <a:latin typeface="Nunito SemiBold"/>
                <a:ea typeface="Nunito SemiBold"/>
                <a:cs typeface="Nunito SemiBold"/>
                <a:sym typeface="Nunito SemiBold"/>
              </a:rPr>
              <a:t>Diego Valenzuela</a:t>
            </a:r>
            <a:endParaRPr b="0" i="0" sz="2050" u="none" cap="none" strike="noStrike"/>
          </a:p>
        </p:txBody>
      </p:sp>
      <p:sp>
        <p:nvSpPr>
          <p:cNvPr id="305" name="Google Shape;305;p14"/>
          <p:cNvSpPr/>
          <p:nvPr/>
        </p:nvSpPr>
        <p:spPr>
          <a:xfrm>
            <a:off x="5229225" y="5049083"/>
            <a:ext cx="4171831" cy="1781175"/>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"Definir la arquitectura con Supabase fue clave para nuestra agilidad. Implementar la seguridad y los roles de usuario me enseñó la importancia de construir una base robusta y scalable desde el primer día."</a:t>
            </a:r>
            <a:endParaRPr b="0" i="0" sz="1750" u="none" cap="none" strike="noStrike"/>
          </a:p>
        </p:txBody>
      </p:sp>
      <p:pic>
        <p:nvPicPr>
          <p:cNvPr descr="preencoded.png" id="306" name="Google Shape;306;p14"/>
          <p:cNvPicPr preferRelativeResize="0"/>
          <p:nvPr/>
        </p:nvPicPr>
        <p:blipFill rotWithShape="1">
          <a:blip r:embed="rId5">
            <a:alphaModFix/>
          </a:blip>
          <a:srcRect b="0" l="0" r="0" t="0"/>
          <a:stretch/>
        </p:blipFill>
        <p:spPr>
          <a:xfrm>
            <a:off x="9679305" y="1787128"/>
            <a:ext cx="4171831" cy="2578298"/>
          </a:xfrm>
          <a:prstGeom prst="rect">
            <a:avLst/>
          </a:prstGeom>
          <a:noFill/>
          <a:ln>
            <a:noFill/>
          </a:ln>
        </p:spPr>
      </p:pic>
      <p:sp>
        <p:nvSpPr>
          <p:cNvPr id="307" name="Google Shape;307;p14"/>
          <p:cNvSpPr/>
          <p:nvPr/>
        </p:nvSpPr>
        <p:spPr>
          <a:xfrm>
            <a:off x="9679305" y="4588073"/>
            <a:ext cx="2619732" cy="327422"/>
          </a:xfrm>
          <a:prstGeom prst="rect">
            <a:avLst/>
          </a:prstGeom>
          <a:noFill/>
          <a:ln>
            <a:noFill/>
          </a:ln>
        </p:spPr>
        <p:txBody>
          <a:bodyPr anchorCtr="0" anchor="t" bIns="0" lIns="0" spcFirstLastPara="1" rIns="0" wrap="square" tIns="0">
            <a:noAutofit/>
          </a:bodyPr>
          <a:lstStyle/>
          <a:p>
            <a:pPr indent="0" lvl="0" marL="0" marR="0" rtl="0" algn="l">
              <a:lnSpc>
                <a:spcPct val="124390"/>
              </a:lnSpc>
              <a:spcBef>
                <a:spcPts val="0"/>
              </a:spcBef>
              <a:spcAft>
                <a:spcPts val="0"/>
              </a:spcAft>
              <a:buClr>
                <a:srgbClr val="FFFFFF"/>
              </a:buClr>
              <a:buSzPts val="2050"/>
              <a:buFont typeface="Nunito SemiBold"/>
              <a:buNone/>
            </a:pPr>
            <a:r>
              <a:rPr b="1" i="0" lang="en-US" sz="2050" u="none" cap="none" strike="noStrike">
                <a:solidFill>
                  <a:srgbClr val="FFFFFF"/>
                </a:solidFill>
                <a:latin typeface="Nunito SemiBold"/>
                <a:ea typeface="Nunito SemiBold"/>
                <a:cs typeface="Nunito SemiBold"/>
                <a:sym typeface="Nunito SemiBold"/>
              </a:rPr>
              <a:t>Alejandro Troncoso</a:t>
            </a:r>
            <a:endParaRPr b="0" i="0" sz="2050" u="none" cap="none" strike="noStrike"/>
          </a:p>
        </p:txBody>
      </p:sp>
      <p:sp>
        <p:nvSpPr>
          <p:cNvPr id="308" name="Google Shape;308;p14"/>
          <p:cNvSpPr/>
          <p:nvPr/>
        </p:nvSpPr>
        <p:spPr>
          <a:xfrm>
            <a:off x="9679305" y="5049083"/>
            <a:ext cx="4171831" cy="2493645"/>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FFFFFF"/>
              </a:buClr>
              <a:buSzPts val="1750"/>
              <a:buFont typeface="PT Sans"/>
              <a:buNone/>
            </a:pPr>
            <a:r>
              <a:rPr b="0" i="0" lang="en-US" sz="1750" u="none" cap="none" strike="noStrike">
                <a:solidFill>
                  <a:srgbClr val="FFFFFF"/>
                </a:solidFill>
                <a:latin typeface="PT Sans"/>
                <a:ea typeface="PT Sans"/>
                <a:cs typeface="PT Sans"/>
                <a:sym typeface="PT Sans"/>
              </a:rPr>
              <a:t>"Desarrollar el backend para gestionar eventos y notificaciones fue un gran aprendizaje. La investigación para la futura integración de IA me demostró que, aunque no se completó, dejamos la puerta abierta para hacer de EventRadar una plataforma mucho más inteligente."</a:t>
            </a:r>
            <a:endParaRPr b="0" i="0" sz="1750" u="none" cap="none" strike="noStrike"/>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2025-10-17T17:50:11Z</dcterms:created>
</cp:coreProperties>
</file>